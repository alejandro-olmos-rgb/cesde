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70" r:id="rId6"/>
    <p:sldId id="269" r:id="rId7"/>
    <p:sldId id="282" r:id="rId8"/>
    <p:sldId id="271" r:id="rId9"/>
    <p:sldId id="273" r:id="rId10"/>
    <p:sldId id="355" r:id="rId11"/>
    <p:sldId id="351" r:id="rId12"/>
    <p:sldId id="280" r:id="rId13"/>
    <p:sldId id="288" r:id="rId14"/>
    <p:sldId id="312" r:id="rId15"/>
    <p:sldId id="313" r:id="rId16"/>
    <p:sldId id="298" r:id="rId17"/>
    <p:sldId id="361" r:id="rId18"/>
    <p:sldId id="362" r:id="rId19"/>
    <p:sldId id="317" r:id="rId20"/>
    <p:sldId id="320" r:id="rId21"/>
    <p:sldId id="325" r:id="rId22"/>
    <p:sldId id="327" r:id="rId23"/>
    <p:sldId id="339" r:id="rId24"/>
    <p:sldId id="332" r:id="rId25"/>
    <p:sldId id="334" r:id="rId26"/>
    <p:sldId id="335" r:id="rId27"/>
    <p:sldId id="347" r:id="rId28"/>
    <p:sldId id="345" r:id="rId2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0E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2B450-2840-1313-E03E-ACF327A45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3CB2C3-84C0-9442-9DBE-DAEE191E4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903A02-9C30-9255-20AE-C0F8F1A3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601B12-BBBE-EAC0-CD05-6B5B5D446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A6CC6E-19C3-1C3D-029C-F82441C7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2764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8EDCA-A2C0-0A29-2ECF-A3030833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F0DB93-E696-6D35-F937-8DB7943DE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46970B-B4D4-CD57-60F0-BD26A1EBB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42F653-6A80-DF33-F52B-1CA00B08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45878D-5E71-F3FE-5B99-33DAB85AF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844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57E8A-6113-6948-5E87-2B2F32CD1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B1981B-4E63-D28B-A69D-67F982E6E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ADD4A6-43A8-13DB-AAA5-7F679BAE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AE0754-3946-686A-1E66-9D782D1B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AAB957-3F06-C881-AD89-7A07A983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067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C2D26-E244-8D69-3B88-A72CE325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ADDC5B-C120-DC4B-24F3-36FB4F4EE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03173C-A457-A251-6007-B08487999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3E9C25-FC1D-EED2-DA52-898C45193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0D95DB-5F07-DC19-D903-0A77509C8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8DF0FD-F78D-A025-F6BC-B62849D3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028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D1131-F4C4-E0FA-AA68-51397554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5F1F73-DEAB-0323-D4B1-9D2BE53D7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D2F546-A49C-320C-783B-69C663711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27781F-8BF8-A7AE-C60B-7EECCF357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1D809F7-8421-0463-4003-2AD598933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81BC306-08BC-9A75-253E-8B928099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92D22D-8AC0-D0D4-5E0B-D1212D49F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C79FC6-8028-45E2-C9C7-10B89420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686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A5C31-AE1D-02A1-4046-6E6BBB5D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E808CB4-F9BA-6C62-C06B-21AB5427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63297A-B7C5-CDE1-F6C4-467303B75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74FF16-27A7-46AD-5224-C60B9963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1273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3DE156E-780E-4865-0E03-6D9E3A21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8ED19D-84DE-FC97-C0A1-D72D04B23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989A92-4746-4333-7B12-34CD3A81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4058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C1A31-6A96-F217-DBC4-5BA759BE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5B4FCB-BFE5-5BE9-05BB-645BEDFCE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7C5AA2-C0EA-5906-53A7-0F7543EBB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BBE31D-21DC-4B8D-3FE2-B78907B5C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DEDAE7-F92F-723C-E92A-2277D39C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1AD274-F2D2-77BF-1CE0-50344238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141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861E3-0222-20DA-5E4A-BEB6D139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0A09CCC-0356-8033-A1C8-E395BC21B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689BBF-43B8-1ADF-340B-3185325BC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64B7AB-D97B-099F-6D2E-3279B797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0EAC2-3A77-F19F-7EC4-F7317294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1A27FC-7DC2-EAEF-EDB9-7D6435FE7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364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166AB-F7D7-7809-E1B1-AEF1999F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25AA23-6CAE-8321-F9E4-6D644EEA0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AEAAFE-E90F-4145-3908-CB36ED5EB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13424A-B551-95BC-843F-4529D736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5178D-123C-841F-488D-980960C0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1045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E4014F-6309-20C6-EA9A-2BCFFF849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BEB557-83D8-19C0-ED3E-392024F0F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EAF496-7D1C-EAC3-95C5-C8FB3592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81D044-0EFF-9E33-4CEA-F7049D18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F182F5-5B0C-AF8E-80F1-6D4853535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463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D27268B-6C19-59E4-03A6-4FFA5914F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9F25CA-E52D-ED03-7E9A-07369E9C5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A2E5FF-956D-BD98-C558-7FDFEFBAF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4B272-1E65-4065-A465-DCBECA64219D}" type="datetimeFigureOut">
              <a:rPr lang="es-CO" smtClean="0"/>
              <a:t>12/02/2026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EDDA87-D2A6-7029-7B3A-0DF4026AB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E561E2-FDE9-3232-4C16-FDBF62092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546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mmet.io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docs/Web/HTML/Reference/Element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766" y="157162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305927" y="55497"/>
            <a:ext cx="995249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Estructura clásica</a:t>
            </a:r>
          </a:p>
        </p:txBody>
      </p:sp>
      <p:pic>
        <p:nvPicPr>
          <p:cNvPr id="5" name="Marcador de contenido 4" descr="Gráfico de rectángulos&#10;&#10;Descripción generada automáticamente con confianza media">
            <a:extLst>
              <a:ext uri="{FF2B5EF4-FFF2-40B4-BE49-F238E27FC236}">
                <a16:creationId xmlns:a16="http://schemas.microsoft.com/office/drawing/2014/main" id="{C35038A3-6A81-6EB0-74AF-CAB7B989E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65" y="1785873"/>
            <a:ext cx="4650997" cy="4572000"/>
          </a:xfrm>
        </p:spPr>
      </p:pic>
      <p:pic>
        <p:nvPicPr>
          <p:cNvPr id="11" name="Imagen 10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584BC925-86A3-F87E-0120-94DB540BB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187" y="1734461"/>
            <a:ext cx="4764426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0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0" y="52685"/>
            <a:ext cx="589121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Elementos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47291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200" dirty="0"/>
              <a:t>Un elemento HTML es un elemento de la página; forma parte del contenido de la misma. Una etiqueta afecta a la apariencia de un elemento HTML. Un atributo HTML describe las características de ese elemento.</a:t>
            </a:r>
          </a:p>
          <a:p>
            <a:pPr marL="0" indent="0" algn="just">
              <a:buNone/>
            </a:pPr>
            <a:r>
              <a:rPr lang="es-MX" sz="3200" dirty="0"/>
              <a:t>Un elemento HTML es un conjunto completo de etiquetas y contenido que define un elemento específico en una página web. Es decir, los elementos HTML son el contenido de la página intercalado entre las etiquetas. Por ejemplo, el elemento p incluiría </a:t>
            </a:r>
            <a:r>
              <a:rPr lang="es-MX" sz="3200"/>
              <a:t>tanto la etiqueta de </a:t>
            </a:r>
            <a:r>
              <a:rPr lang="es-MX" sz="3200" dirty="0"/>
              <a:t>apertura p como el contenido del párrafo, así </a:t>
            </a:r>
            <a:r>
              <a:rPr lang="es-MX" sz="3200"/>
              <a:t>como la etiqueta de </a:t>
            </a:r>
            <a:r>
              <a:rPr lang="es-MX" sz="3200" dirty="0"/>
              <a:t>cierre /p.</a:t>
            </a:r>
          </a:p>
        </p:txBody>
      </p:sp>
    </p:spTree>
    <p:extLst>
      <p:ext uri="{BB962C8B-B14F-4D97-AF65-F5344CB8AC3E}">
        <p14:creationId xmlns:p14="http://schemas.microsoft.com/office/powerpoint/2010/main" val="238384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0" y="52685"/>
            <a:ext cx="78093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Etiquetas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Marcador de contenido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BE9B1242-282D-0016-BED2-297CA07E9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567" y="976016"/>
            <a:ext cx="6156434" cy="5735494"/>
          </a:xfrm>
        </p:spPr>
      </p:pic>
    </p:spTree>
    <p:extLst>
      <p:ext uri="{BB962C8B-B14F-4D97-AF65-F5344CB8AC3E}">
        <p14:creationId xmlns:p14="http://schemas.microsoft.com/office/powerpoint/2010/main" val="3476946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0" y="52685"/>
            <a:ext cx="78093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Etiquetas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4450"/>
            <a:ext cx="10515600" cy="47291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200" dirty="0"/>
              <a:t>Las "tags" HTML, o "etiquetas" HTML, son códigos utilizados para "marcar" el texto de una página web, con el fin de dar instrucciones al navegador sobre cómo mostrarlo.</a:t>
            </a:r>
          </a:p>
          <a:p>
            <a:pPr marL="0" indent="0" algn="just">
              <a:buNone/>
            </a:pPr>
            <a:r>
              <a:rPr lang="es-MX" sz="3200" dirty="0"/>
              <a:t>Es decir, las etiquetas HTML son el lenguaje utilizado para estructurar y definir el contenido en un documento HTML. Estas etiquetas se encuentran en el HTML de cada página.</a:t>
            </a:r>
          </a:p>
          <a:p>
            <a:pPr marL="0" indent="0" algn="just">
              <a:buNone/>
            </a:pPr>
            <a:r>
              <a:rPr lang="es-MX" sz="3200" dirty="0"/>
              <a:t>Las tags HTML también sirven para transmitir información a los distintos navegadores, que sirve para que tu web esté mejor estructurada y pueda visualizarse en todos los navegadores.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3894004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0" y="52685"/>
            <a:ext cx="78093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Etiquetas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49" y="1314450"/>
            <a:ext cx="5915025" cy="3343275"/>
          </a:xfrm>
        </p:spPr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es-MX" sz="3000" dirty="0"/>
              <a:t>Una etiqueta contiene tres partes:</a:t>
            </a:r>
          </a:p>
          <a:p>
            <a:pPr marL="0" indent="0" algn="just">
              <a:spcBef>
                <a:spcPts val="600"/>
              </a:spcBef>
              <a:buNone/>
            </a:pPr>
            <a:endParaRPr lang="es-MX" sz="1400" dirty="0"/>
          </a:p>
          <a:p>
            <a:pPr marL="514350" indent="-514350" algn="just">
              <a:spcBef>
                <a:spcPts val="600"/>
              </a:spcBef>
              <a:buFont typeface="+mj-lt"/>
              <a:buAutoNum type="arabicPeriod"/>
            </a:pPr>
            <a:r>
              <a:rPr lang="es-MX" sz="3000" dirty="0"/>
              <a:t>Una etiqueta de apertura, dentro de los símbolos  .</a:t>
            </a:r>
          </a:p>
          <a:p>
            <a:pPr marL="514350" indent="-514350" algn="just">
              <a:spcBef>
                <a:spcPts val="600"/>
              </a:spcBef>
              <a:buFont typeface="+mj-lt"/>
              <a:buAutoNum type="arabicPeriod"/>
            </a:pPr>
            <a:r>
              <a:rPr lang="es-MX" sz="3000" dirty="0"/>
              <a:t>Contenido: algunas instrucciones sobre cómo mostrar el elemento en la página. </a:t>
            </a:r>
          </a:p>
        </p:txBody>
      </p:sp>
      <p:pic>
        <p:nvPicPr>
          <p:cNvPr id="4" name="Imagen 3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E0EEB3DE-A5C9-4BC9-5885-6C492B116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686" y="1452361"/>
            <a:ext cx="5677692" cy="281026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1290985-6035-B431-03A2-965D2FDBADF7}"/>
              </a:ext>
            </a:extLst>
          </p:cNvPr>
          <p:cNvSpPr txBox="1"/>
          <p:nvPr/>
        </p:nvSpPr>
        <p:spPr>
          <a:xfrm>
            <a:off x="285750" y="4200511"/>
            <a:ext cx="116205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+mj-lt"/>
              <a:buAutoNum type="arabicPeriod" startAt="3"/>
            </a:pPr>
            <a:r>
              <a:rPr lang="es-MX" sz="3000" dirty="0"/>
              <a:t>Una etiqueta de cierre, dentro de los símbolos / . </a:t>
            </a:r>
          </a:p>
          <a:p>
            <a:pPr marL="514350" indent="-514350" algn="just">
              <a:buFont typeface="+mj-lt"/>
              <a:buAutoNum type="arabicPeriod" startAt="3"/>
            </a:pPr>
            <a:endParaRPr lang="es-MX" sz="3000" dirty="0"/>
          </a:p>
          <a:p>
            <a:pPr algn="just"/>
            <a:r>
              <a:rPr lang="es-MX" sz="3000" dirty="0"/>
              <a:t>Algunas tags pueden no cerrarse. Esto significa </a:t>
            </a:r>
            <a:r>
              <a:rPr lang="es-MX" sz="3000"/>
              <a:t>que la etiqueta HTML </a:t>
            </a:r>
            <a:r>
              <a:rPr lang="es-MX" sz="3000" dirty="0"/>
              <a:t>no necesita cerrarse con un / .</a:t>
            </a:r>
          </a:p>
        </p:txBody>
      </p:sp>
    </p:spTree>
    <p:extLst>
      <p:ext uri="{BB962C8B-B14F-4D97-AF65-F5344CB8AC3E}">
        <p14:creationId xmlns:p14="http://schemas.microsoft.com/office/powerpoint/2010/main" val="3317141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272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509578" y="52685"/>
            <a:ext cx="996315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Extensiones en Visual Studio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Code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2"/>
            <a:ext cx="10515600" cy="51720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000" dirty="0"/>
              <a:t>Son complementos que añaden nuevas funcionalidades y mejoran la experiencia del usuario en el editor. Estas extensiones pueden ser instaladas para personalizar el entorno de desarrollo según las necesidades de cada usuario o proyecto. </a:t>
            </a:r>
            <a:endParaRPr lang="es-CO" sz="3000" dirty="0"/>
          </a:p>
        </p:txBody>
      </p:sp>
      <p:pic>
        <p:nvPicPr>
          <p:cNvPr id="4" name="Imagen 3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DF04A955-DCDA-7588-FE20-5DA336F0D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209715"/>
            <a:ext cx="10548000" cy="314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4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046" y="154350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195242" y="52685"/>
            <a:ext cx="109347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Comentarios e Indexación en VS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Code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2"/>
            <a:ext cx="10515600" cy="47148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000" dirty="0"/>
              <a:t>Los comentarios son secciones de código que se usan para describir lo que hace cierta parte del código.</a:t>
            </a:r>
          </a:p>
          <a:p>
            <a:pPr marL="0" indent="0" algn="just">
              <a:buNone/>
            </a:pPr>
            <a:endParaRPr lang="es-MX" sz="3000" dirty="0"/>
          </a:p>
          <a:p>
            <a:pPr marL="0" indent="0" algn="just">
              <a:buNone/>
            </a:pPr>
            <a:endParaRPr lang="es-MX" sz="800" dirty="0"/>
          </a:p>
          <a:p>
            <a:pPr marL="0" indent="0" algn="just">
              <a:buNone/>
            </a:pPr>
            <a:r>
              <a:rPr lang="es-MX" sz="3000" dirty="0"/>
              <a:t>La </a:t>
            </a:r>
            <a:r>
              <a:rPr lang="es-MX" sz="3000" dirty="0" err="1"/>
              <a:t>indentación</a:t>
            </a:r>
            <a:r>
              <a:rPr lang="es-MX" sz="3000" dirty="0"/>
              <a:t> se refiere al uso de espacios o tabulaciones para crear una estructura visualmente organizada y jerárquica del código. </a:t>
            </a:r>
          </a:p>
          <a:p>
            <a:pPr marL="0" indent="0" algn="just">
              <a:buNone/>
            </a:pPr>
            <a:endParaRPr lang="es-CO" sz="3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1036FA-41DC-FD1D-7C72-02316E813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38" y="2309787"/>
            <a:ext cx="10348507" cy="583681"/>
          </a:xfrm>
          <a:prstGeom prst="rect">
            <a:avLst/>
          </a:prstGeom>
        </p:spPr>
      </p:pic>
      <p:pic>
        <p:nvPicPr>
          <p:cNvPr id="7" name="Imagen 6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35085942-CE28-496E-6600-F9E79DEB25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38" y="4529038"/>
            <a:ext cx="10348506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86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0" y="52685"/>
            <a:ext cx="916305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Abreviaciones Emmet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602"/>
            <a:ext cx="10515600" cy="198596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dirty="0"/>
              <a:t>Herramienta para escribir código HTML y CSS de manera rápida. Con las abreviaciones, Emmet expande fragmentos de código en estructuras completas, reduciendo el tiempo para crear etiquetas y elementos repetitivos. Esto agiliza el flujo de trabajo, y permite concentrarse más en la lógica y diseño que en la sintaxis. </a:t>
            </a:r>
            <a:endParaRPr lang="es-CO" dirty="0"/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75EF0659-2ECC-F1D1-F4D0-2C7726A98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309498"/>
              </p:ext>
            </p:extLst>
          </p:nvPr>
        </p:nvGraphicFramePr>
        <p:xfrm>
          <a:off x="838201" y="3096568"/>
          <a:ext cx="10515599" cy="3535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21177">
                  <a:extLst>
                    <a:ext uri="{9D8B030D-6E8A-4147-A177-3AD203B41FA5}">
                      <a16:colId xmlns:a16="http://schemas.microsoft.com/office/drawing/2014/main" val="1690476416"/>
                    </a:ext>
                  </a:extLst>
                </a:gridCol>
                <a:gridCol w="6194422">
                  <a:extLst>
                    <a:ext uri="{9D8B030D-6E8A-4147-A177-3AD203B41FA5}">
                      <a16:colId xmlns:a16="http://schemas.microsoft.com/office/drawing/2014/main" val="3007425931"/>
                    </a:ext>
                  </a:extLst>
                </a:gridCol>
              </a:tblGrid>
              <a:tr h="434021">
                <a:tc>
                  <a:txBody>
                    <a:bodyPr/>
                    <a:lstStyle/>
                    <a:p>
                      <a:r>
                        <a:rPr lang="es-CO" sz="2800" dirty="0"/>
                        <a:t>! o html:5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a[</a:t>
                      </a:r>
                      <a:r>
                        <a:rPr lang="es-CO" sz="2800" dirty="0" err="1"/>
                        <a:t>href</a:t>
                      </a:r>
                      <a:r>
                        <a:rPr lang="es-CO" sz="2800" dirty="0"/>
                        <a:t>="https://google.com"]{Google}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058582"/>
                  </a:ext>
                </a:extLst>
              </a:tr>
              <a:tr h="434021">
                <a:tc>
                  <a:txBody>
                    <a:bodyPr/>
                    <a:lstStyle/>
                    <a:p>
                      <a:r>
                        <a:rPr lang="es-CO" sz="2800" dirty="0"/>
                        <a:t>section.clase1.clase2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 err="1"/>
                        <a:t>section#principal.contenedor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819"/>
                  </a:ext>
                </a:extLst>
              </a:tr>
              <a:tr h="434021">
                <a:tc>
                  <a:txBody>
                    <a:bodyPr/>
                    <a:lstStyle/>
                    <a:p>
                      <a:r>
                        <a:rPr lang="es-CO" sz="2800" dirty="0"/>
                        <a:t>p*3&gt;lorem50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img[src="imagen$"].imagen*3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685641"/>
                  </a:ext>
                </a:extLst>
              </a:tr>
              <a:tr h="434021">
                <a:tc>
                  <a:txBody>
                    <a:bodyPr/>
                    <a:lstStyle/>
                    <a:p>
                      <a:r>
                        <a:rPr lang="es-CO" sz="2800" dirty="0" err="1"/>
                        <a:t>ul</a:t>
                      </a:r>
                      <a:r>
                        <a:rPr lang="es-CO" sz="2800" dirty="0"/>
                        <a:t>&gt;</a:t>
                      </a:r>
                      <a:r>
                        <a:rPr lang="es-CO" sz="2800" dirty="0" err="1"/>
                        <a:t>li</a:t>
                      </a:r>
                      <a:r>
                        <a:rPr lang="es-CO" sz="2800" dirty="0"/>
                        <a:t>*5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table&gt;tr*3&gt;td*3</a:t>
                      </a:r>
                      <a:endParaRPr lang="de-DE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743328"/>
                  </a:ext>
                </a:extLst>
              </a:tr>
              <a:tr h="4340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</a:t>
                      </a:r>
                      <a:r>
                        <a:rPr lang="pt-BR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pt-BR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li.item</a:t>
                      </a:r>
                      <a:r>
                        <a:rPr lang="pt-BR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$*5{Elemento $}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 err="1"/>
                        <a:t>section.principal</a:t>
                      </a:r>
                      <a:r>
                        <a:rPr lang="es-CO" sz="2800" dirty="0"/>
                        <a:t>&gt;h2+p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820492"/>
                  </a:ext>
                </a:extLst>
              </a:tr>
              <a:tr h="434021">
                <a:tc gridSpan="2">
                  <a:txBody>
                    <a:bodyPr/>
                    <a:lstStyle/>
                    <a:p>
                      <a:r>
                        <a:rPr lang="es-CO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section.formulario</a:t>
                      </a:r>
                      <a:r>
                        <a:rPr lang="es-CO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es-CO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</a:t>
                      </a:r>
                      <a:r>
                        <a:rPr lang="es-CO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&gt;input[</a:t>
                      </a:r>
                      <a:r>
                        <a:rPr lang="es-CO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r>
                        <a:rPr lang="es-CO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s-CO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r>
                        <a:rPr lang="es-CO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"]+</a:t>
                      </a:r>
                      <a:r>
                        <a:rPr lang="es-CO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lang="es-CO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*2+input[</a:t>
                      </a:r>
                      <a:r>
                        <a:rPr lang="es-CO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r>
                        <a:rPr lang="es-CO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="email"]+</a:t>
                      </a:r>
                      <a:r>
                        <a:rPr lang="es-CO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lang="es-CO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*2+input[</a:t>
                      </a:r>
                      <a:r>
                        <a:rPr lang="es-CO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r>
                        <a:rPr lang="es-CO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s-CO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submit</a:t>
                      </a:r>
                      <a:r>
                        <a:rPr lang="es-CO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318601"/>
                  </a:ext>
                </a:extLst>
              </a:tr>
            </a:tbl>
          </a:graphicData>
        </a:graphic>
      </p:graphicFrame>
      <p:sp>
        <p:nvSpPr>
          <p:cNvPr id="4" name="Flecha: a la derecha 3">
            <a:hlinkClick r:id="rId3"/>
            <a:extLst>
              <a:ext uri="{FF2B5EF4-FFF2-40B4-BE49-F238E27FC236}">
                <a16:creationId xmlns:a16="http://schemas.microsoft.com/office/drawing/2014/main" id="{D529AC24-855A-BD95-327F-C586A67FE5B2}"/>
              </a:ext>
            </a:extLst>
          </p:cNvPr>
          <p:cNvSpPr/>
          <p:nvPr/>
        </p:nvSpPr>
        <p:spPr>
          <a:xfrm>
            <a:off x="10965224" y="6222206"/>
            <a:ext cx="357187" cy="360000"/>
          </a:xfrm>
          <a:prstGeom prst="rightArrow">
            <a:avLst/>
          </a:prstGeom>
          <a:solidFill>
            <a:srgbClr val="E40E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2753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0" y="52685"/>
            <a:ext cx="78093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Estructura Global</a:t>
            </a:r>
          </a:p>
        </p:txBody>
      </p:sp>
      <p:pic>
        <p:nvPicPr>
          <p:cNvPr id="12" name="Marcador de contenido 11" descr="Texto&#10;&#10;Descripción generada automáticamente">
            <a:extLst>
              <a:ext uri="{FF2B5EF4-FFF2-40B4-BE49-F238E27FC236}">
                <a16:creationId xmlns:a16="http://schemas.microsoft.com/office/drawing/2014/main" id="{18FF1B16-5843-2996-8B99-A1A6A930F1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71613"/>
            <a:ext cx="10515600" cy="4614862"/>
          </a:xfrm>
        </p:spPr>
      </p:pic>
    </p:spTree>
    <p:extLst>
      <p:ext uri="{BB962C8B-B14F-4D97-AF65-F5344CB8AC3E}">
        <p14:creationId xmlns:p14="http://schemas.microsoft.com/office/powerpoint/2010/main" val="3613095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1" y="52685"/>
            <a:ext cx="863441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Etiqueta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img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738"/>
            <a:ext cx="10515600" cy="507206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000" u="none" strike="noStrike" baseline="0" dirty="0">
                <a:solidFill>
                  <a:srgbClr val="000000"/>
                </a:solidFill>
              </a:rPr>
              <a:t>Permite agregar imágenes en una página web. Las imágenes enriquecen el contenido y mejoran la experiencia del usuario. </a:t>
            </a:r>
            <a:r>
              <a:rPr lang="es-MX" sz="3000" b="1" u="none" strike="noStrike" baseline="0" dirty="0" err="1">
                <a:solidFill>
                  <a:srgbClr val="000000"/>
                </a:solidFill>
              </a:rPr>
              <a:t>img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es una etiqueta vacía que contiene los datos necesarios en una sola línea:</a:t>
            </a:r>
          </a:p>
          <a:p>
            <a:pPr marL="0" indent="0" algn="just">
              <a:buNone/>
            </a:pPr>
            <a:endParaRPr lang="es-MX" sz="3000" u="none" strike="noStrike" baseline="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es-MX" sz="3000" b="1" u="none" strike="noStrike" baseline="0" dirty="0" err="1">
                <a:solidFill>
                  <a:srgbClr val="000000"/>
                </a:solidFill>
              </a:rPr>
              <a:t>img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: Indica que se quiere insertar una imagen en la página.</a:t>
            </a:r>
          </a:p>
          <a:p>
            <a:pPr marL="0" indent="0" algn="just">
              <a:buNone/>
            </a:pPr>
            <a:r>
              <a:rPr lang="es-MX" sz="3000" b="1" u="none" strike="noStrike" baseline="0" dirty="0" err="1">
                <a:solidFill>
                  <a:srgbClr val="000000"/>
                </a:solidFill>
              </a:rPr>
              <a:t>src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: Define la URL de la imagen. Puede ser una ruta relativa (ubicada dentro de la misma estructura de archivos) o una ruta absoluta (URL completa de la imagen en línea).</a:t>
            </a:r>
          </a:p>
          <a:p>
            <a:pPr marL="0" indent="0" algn="just">
              <a:buNone/>
            </a:pPr>
            <a:r>
              <a:rPr lang="es-MX" sz="3000" b="1" u="none" strike="noStrike" baseline="0" dirty="0" err="1">
                <a:solidFill>
                  <a:srgbClr val="000000"/>
                </a:solidFill>
              </a:rPr>
              <a:t>alt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: Proporciona un texto alternativo para la imagen, fundamental para la accesibilidad y para los motores de búsqueda.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3BB166-EBCA-55A0-F555-C7E4C679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296" y="3028954"/>
            <a:ext cx="8203407" cy="5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178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1" y="52685"/>
            <a:ext cx="863441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Etiqueta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Map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8637"/>
            <a:ext cx="10515600" cy="51678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000" dirty="0">
                <a:solidFill>
                  <a:srgbClr val="000000"/>
                </a:solidFill>
              </a:rPr>
              <a:t>Se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utiliza para crear un mapa de imágenes, que permite definir zonas de una imagen que pueden ser enlazadas a otras páginas web o a otras partes de la misma página. Es un elemento de bloque que permite asociar un conjunto de etiquetas </a:t>
            </a:r>
            <a:r>
              <a:rPr lang="es-MX" sz="3000" b="1" u="none" strike="noStrike" baseline="0" dirty="0" err="1">
                <a:solidFill>
                  <a:srgbClr val="000000"/>
                </a:solidFill>
              </a:rPr>
              <a:t>area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con una imagen específica.</a:t>
            </a:r>
          </a:p>
          <a:p>
            <a:pPr marL="0" indent="0" algn="just">
              <a:buNone/>
            </a:pPr>
            <a:r>
              <a:rPr lang="es-MX" sz="3000" b="1" u="none" strike="noStrike" baseline="0" dirty="0">
                <a:solidFill>
                  <a:srgbClr val="000000"/>
                </a:solidFill>
              </a:rPr>
              <a:t>Atributos</a:t>
            </a:r>
          </a:p>
          <a:p>
            <a:pPr marL="360000" indent="-288000" algn="just"/>
            <a:r>
              <a:rPr lang="es-MX" sz="3000" b="1" u="none" strike="noStrike" baseline="0" dirty="0" err="1">
                <a:solidFill>
                  <a:srgbClr val="000000"/>
                </a:solidFill>
              </a:rPr>
              <a:t>name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: especifica un nombre para el mapa, que se utilizará para vincularlo con una o varias etiquetas </a:t>
            </a:r>
            <a:r>
              <a:rPr lang="es-MX" sz="3000" u="none" strike="noStrike" baseline="0" dirty="0" err="1">
                <a:solidFill>
                  <a:srgbClr val="000000"/>
                </a:solidFill>
              </a:rPr>
              <a:t>img</a:t>
            </a:r>
            <a:endParaRPr lang="es-MX" sz="3000" u="none" strike="noStrike" baseline="0" dirty="0">
              <a:solidFill>
                <a:srgbClr val="000000"/>
              </a:solidFill>
            </a:endParaRPr>
          </a:p>
          <a:p>
            <a:pPr marL="360000" indent="-288000" algn="just"/>
            <a:r>
              <a:rPr lang="es-MX" sz="3000" b="1" u="none" strike="noStrike" baseline="0" dirty="0" err="1">
                <a:solidFill>
                  <a:srgbClr val="000000"/>
                </a:solidFill>
              </a:rPr>
              <a:t>class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: permite aplicar estilos </a:t>
            </a:r>
            <a:r>
              <a:rPr lang="es-MX" sz="3000" u="none" strike="noStrike" baseline="0" dirty="0" err="1">
                <a:solidFill>
                  <a:srgbClr val="000000"/>
                </a:solidFill>
              </a:rPr>
              <a:t>css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al mapa.</a:t>
            </a:r>
          </a:p>
          <a:p>
            <a:pPr marL="0" indent="0" algn="just">
              <a:buNone/>
            </a:pPr>
            <a:r>
              <a:rPr lang="es-MX" sz="3000" b="1" u="none" strike="noStrike" baseline="0" dirty="0" err="1">
                <a:solidFill>
                  <a:srgbClr val="000000"/>
                </a:solidFill>
              </a:rPr>
              <a:t>map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debe tener un conjunto de etiquetas </a:t>
            </a:r>
            <a:r>
              <a:rPr lang="es-MX" sz="3000" u="none" strike="noStrike" baseline="0" dirty="0" err="1">
                <a:solidFill>
                  <a:srgbClr val="000000"/>
                </a:solidFill>
              </a:rPr>
              <a:t>area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como hijas, las cuales definen las zonas de la imagen que serán vinculadas.</a:t>
            </a:r>
          </a:p>
        </p:txBody>
      </p:sp>
    </p:spTree>
    <p:extLst>
      <p:ext uri="{BB962C8B-B14F-4D97-AF65-F5344CB8AC3E}">
        <p14:creationId xmlns:p14="http://schemas.microsoft.com/office/powerpoint/2010/main" val="621300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1" y="52685"/>
            <a:ext cx="863441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Etiqueta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Map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10" name="Marcador de contenido 9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AEAFFE95-7953-ED1E-3055-6F9A9771DA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49236"/>
            <a:ext cx="10515599" cy="4955475"/>
          </a:xfrm>
        </p:spPr>
      </p:pic>
    </p:spTree>
    <p:extLst>
      <p:ext uri="{BB962C8B-B14F-4D97-AF65-F5344CB8AC3E}">
        <p14:creationId xmlns:p14="http://schemas.microsoft.com/office/powerpoint/2010/main" val="1847532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1" y="52685"/>
            <a:ext cx="953452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</a:t>
            </a:r>
            <a:r>
              <a:rPr lang="es-ES" sz="5400" b="1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nlaces o Hipervínculos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144" y="1257301"/>
            <a:ext cx="10653712" cy="480059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000" dirty="0">
                <a:solidFill>
                  <a:srgbClr val="000000"/>
                </a:solidFill>
              </a:rPr>
              <a:t>S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on elementos que permiten navegar a través de todo el contenido de un sitio web y navegar hacia otras páginas o sitios. Para crear un enlace, se utiliza la etiqueta </a:t>
            </a:r>
            <a:r>
              <a:rPr lang="es-MX" sz="3000" b="1" u="none" strike="noStrike" baseline="0" dirty="0">
                <a:solidFill>
                  <a:srgbClr val="000000"/>
                </a:solidFill>
              </a:rPr>
              <a:t>&lt;</a:t>
            </a:r>
            <a:r>
              <a:rPr lang="es-MX" sz="3000" b="1" u="none" strike="noStrike" baseline="0" dirty="0">
                <a:solidFill>
                  <a:srgbClr val="E40E1D"/>
                </a:solidFill>
              </a:rPr>
              <a:t>a</a:t>
            </a:r>
            <a:r>
              <a:rPr lang="es-MX" sz="3000" b="1" u="none" strike="noStrike" baseline="0" dirty="0">
                <a:solidFill>
                  <a:srgbClr val="000000"/>
                </a:solidFill>
              </a:rPr>
              <a:t>&gt;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junto con su atributo </a:t>
            </a:r>
            <a:r>
              <a:rPr lang="es-MX" sz="3000" b="1" u="none" strike="noStrike" baseline="0" dirty="0" err="1">
                <a:solidFill>
                  <a:srgbClr val="000000"/>
                </a:solidFill>
              </a:rPr>
              <a:t>href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, que contiene la dirección a la que se quiere navegar. Esta dirección puede ser una URL de otro sitio web, la ruta de un documento del propio sitio o también otra parte de la página web actual.</a:t>
            </a:r>
          </a:p>
          <a:p>
            <a:pPr marL="0" indent="0" algn="just">
              <a:buNone/>
            </a:pPr>
            <a:endParaRPr lang="es-MX" sz="3000" u="none" strike="noStrike" baseline="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es-MX" sz="3000" dirty="0">
                <a:solidFill>
                  <a:srgbClr val="000000"/>
                </a:solidFill>
              </a:rPr>
              <a:t>Se pueden crear e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nlaces a otras partes de la misma </a:t>
            </a:r>
            <a:r>
              <a:rPr lang="es-MX" sz="3000" dirty="0">
                <a:solidFill>
                  <a:srgbClr val="000000"/>
                </a:solidFill>
              </a:rPr>
              <a:t>p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ágina, para facilitar la navegación. Para ello, en el </a:t>
            </a:r>
            <a:r>
              <a:rPr lang="es-MX" sz="3000" b="1" u="none" strike="noStrike" baseline="0" dirty="0" err="1">
                <a:solidFill>
                  <a:srgbClr val="000000"/>
                </a:solidFill>
              </a:rPr>
              <a:t>href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, se escribe un </a:t>
            </a:r>
            <a:r>
              <a:rPr lang="es-MX" sz="3000" b="1" u="none" strike="noStrike" baseline="0" dirty="0">
                <a:solidFill>
                  <a:srgbClr val="E40E1D"/>
                </a:solidFill>
              </a:rPr>
              <a:t>#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y el </a:t>
            </a:r>
            <a:r>
              <a:rPr lang="es-MX" sz="3000" b="1" u="none" strike="noStrike" baseline="0" dirty="0">
                <a:solidFill>
                  <a:srgbClr val="000000"/>
                </a:solidFill>
              </a:rPr>
              <a:t>id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de </a:t>
            </a:r>
            <a:r>
              <a:rPr lang="es-MX" sz="3000" dirty="0">
                <a:solidFill>
                  <a:srgbClr val="000000"/>
                </a:solidFill>
              </a:rPr>
              <a:t>u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n elemento en el documento HTML. El id es un atributo global que funciona como identificador único del elemento.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22019E-580B-F4F2-D928-FB79AFB4C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56" y="3879056"/>
            <a:ext cx="10484644" cy="45005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9B81716-4B30-787F-FC21-388953407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547" y="6110586"/>
            <a:ext cx="6717861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11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1" y="52685"/>
            <a:ext cx="789146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Span</a:t>
            </a:r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y E</a:t>
            </a:r>
            <a:r>
              <a:rPr lang="es-ES" sz="5400" b="1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ntidades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144" y="1371606"/>
            <a:ext cx="10653712" cy="46720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000" u="none" strike="noStrike" baseline="0" dirty="0">
                <a:solidFill>
                  <a:srgbClr val="000000"/>
                </a:solidFill>
              </a:rPr>
              <a:t>Los </a:t>
            </a:r>
            <a:r>
              <a:rPr lang="es-MX" sz="3000" u="none" strike="noStrike" baseline="0" dirty="0" err="1">
                <a:solidFill>
                  <a:srgbClr val="000000"/>
                </a:solidFill>
              </a:rPr>
              <a:t>span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son elementos que se utilizan como contenedores de cierta parte de texto u otro elemento para que esta sea manipulado con facilidad. Su etiqueta es </a:t>
            </a:r>
            <a:r>
              <a:rPr lang="es-MX" sz="3000" b="1" u="none" strike="noStrike" baseline="0" dirty="0">
                <a:solidFill>
                  <a:srgbClr val="000000"/>
                </a:solidFill>
              </a:rPr>
              <a:t>&lt;</a:t>
            </a:r>
            <a:r>
              <a:rPr lang="es-MX" sz="3000" b="1" u="none" strike="noStrike" baseline="0" dirty="0" err="1">
                <a:solidFill>
                  <a:srgbClr val="E40E1D"/>
                </a:solidFill>
              </a:rPr>
              <a:t>span</a:t>
            </a:r>
            <a:r>
              <a:rPr lang="es-MX" sz="3000" b="1" u="none" strike="noStrike" baseline="0" dirty="0">
                <a:solidFill>
                  <a:srgbClr val="000000"/>
                </a:solidFill>
              </a:rPr>
              <a:t>&gt; 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y usualmente contienen un </a:t>
            </a:r>
            <a:r>
              <a:rPr lang="es-MX" sz="3000" b="1" u="none" strike="noStrike" baseline="0" dirty="0">
                <a:solidFill>
                  <a:srgbClr val="000000"/>
                </a:solidFill>
              </a:rPr>
              <a:t>id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o </a:t>
            </a:r>
            <a:r>
              <a:rPr lang="es-MX" sz="3000" b="1" u="none" strike="noStrike" baseline="0" dirty="0" err="1">
                <a:solidFill>
                  <a:srgbClr val="000000"/>
                </a:solidFill>
              </a:rPr>
              <a:t>class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para que ese segmento sea modificable con CSS.</a:t>
            </a:r>
          </a:p>
          <a:p>
            <a:pPr marL="0" indent="0" algn="just">
              <a:buNone/>
            </a:pPr>
            <a:endParaRPr lang="es-MX" sz="30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es-MX" sz="3000" u="none" strike="noStrike" baseline="0" dirty="0">
                <a:solidFill>
                  <a:srgbClr val="000000"/>
                </a:solidFill>
              </a:rPr>
              <a:t>Las entidades son caracteres escritos de manera diferente para que el navegador pueda identificarlos como parte del contenido y no como parte del código HTML. Para ello, se coloca el símbolo </a:t>
            </a:r>
            <a:r>
              <a:rPr lang="es-MX" sz="3000" b="1" u="none" strike="noStrike" baseline="0" dirty="0">
                <a:solidFill>
                  <a:srgbClr val="E40E1D"/>
                </a:solidFill>
              </a:rPr>
              <a:t>&amp;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 seguido de su código.</a:t>
            </a:r>
          </a:p>
          <a:p>
            <a:pPr marL="0" indent="0" algn="just">
              <a:buNone/>
            </a:pPr>
            <a:r>
              <a:rPr lang="es-MX" sz="3000" dirty="0">
                <a:solidFill>
                  <a:srgbClr val="000000"/>
                </a:solidFill>
              </a:rPr>
              <a:t>En la siguiente tabla se listan </a:t>
            </a:r>
            <a:r>
              <a:rPr lang="es-MX" sz="3000" u="none" strike="noStrike" baseline="0" dirty="0">
                <a:solidFill>
                  <a:srgbClr val="000000"/>
                </a:solidFill>
              </a:rPr>
              <a:t>algunos caracteres especiales.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330F19-9033-4E68-9C89-47836C812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3081321"/>
            <a:ext cx="10515599" cy="41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22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0" y="52685"/>
            <a:ext cx="81914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Tabla de E</a:t>
            </a:r>
            <a:r>
              <a:rPr lang="es-ES" sz="5400" b="1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ntidades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07FA9E30-5C5D-80E8-6D54-D8B185478D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0980861"/>
              </p:ext>
            </p:extLst>
          </p:nvPr>
        </p:nvGraphicFramePr>
        <p:xfrm>
          <a:off x="605513" y="1325563"/>
          <a:ext cx="6876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808850394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1884848334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4260731959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3918947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CO" sz="2800" dirty="0" err="1">
                          <a:solidFill>
                            <a:srgbClr val="000000"/>
                          </a:solidFill>
                          <a:effectLst/>
                        </a:rPr>
                        <a:t>Caracter</a:t>
                      </a:r>
                      <a:endParaRPr lang="es-CO" sz="2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Nombre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Número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900811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endParaRPr lang="es-CO" sz="2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Espacio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</a:t>
                      </a:r>
                      <a:r>
                        <a:rPr lang="es-CO" sz="2800" dirty="0" err="1">
                          <a:solidFill>
                            <a:srgbClr val="000000"/>
                          </a:solidFill>
                          <a:effectLst/>
                        </a:rPr>
                        <a:t>nbsp</a:t>
                      </a:r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&amp;#160;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6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CO" sz="2800">
                          <a:solidFill>
                            <a:srgbClr val="000000"/>
                          </a:solidFill>
                          <a:effectLst/>
                        </a:rPr>
                        <a:t>menor 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</a:t>
                      </a:r>
                      <a:r>
                        <a:rPr lang="es-CO" sz="2800" dirty="0" err="1">
                          <a:solidFill>
                            <a:srgbClr val="000000"/>
                          </a:solidFill>
                          <a:effectLst/>
                        </a:rPr>
                        <a:t>lt</a:t>
                      </a:r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&amp;#60;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468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CO" sz="2800">
                          <a:solidFill>
                            <a:srgbClr val="000000"/>
                          </a:solidFill>
                          <a:effectLst/>
                        </a:rPr>
                        <a:t>mayor 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</a:t>
                      </a:r>
                      <a:r>
                        <a:rPr lang="es-CO" sz="2800" dirty="0" err="1">
                          <a:solidFill>
                            <a:srgbClr val="000000"/>
                          </a:solidFill>
                          <a:effectLst/>
                        </a:rPr>
                        <a:t>gt</a:t>
                      </a:r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&amp;#62;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006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CO" sz="2800">
                          <a:solidFill>
                            <a:srgbClr val="000000"/>
                          </a:solidFill>
                          <a:effectLst/>
                        </a:rPr>
                        <a:t>ampersand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</a:t>
                      </a:r>
                      <a:r>
                        <a:rPr lang="es-CO" sz="2800" dirty="0" err="1">
                          <a:solidFill>
                            <a:srgbClr val="000000"/>
                          </a:solidFill>
                          <a:effectLst/>
                        </a:rPr>
                        <a:t>amp</a:t>
                      </a:r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&amp;#38;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201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CO" sz="2800">
                          <a:solidFill>
                            <a:srgbClr val="000000"/>
                          </a:solidFill>
                          <a:effectLst/>
                        </a:rPr>
                        <a:t>comillas dobles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</a:t>
                      </a:r>
                      <a:r>
                        <a:rPr lang="es-CO" sz="2800" dirty="0" err="1">
                          <a:solidFill>
                            <a:srgbClr val="000000"/>
                          </a:solidFill>
                          <a:effectLst/>
                        </a:rPr>
                        <a:t>quot</a:t>
                      </a:r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&amp;#34;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976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CO" sz="2800">
                          <a:solidFill>
                            <a:srgbClr val="000000"/>
                          </a:solidFill>
                          <a:effectLst/>
                        </a:rPr>
                        <a:t>comilla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</a:t>
                      </a:r>
                      <a:r>
                        <a:rPr lang="es-CO" sz="2800" dirty="0" err="1">
                          <a:solidFill>
                            <a:srgbClr val="000000"/>
                          </a:solidFill>
                          <a:effectLst/>
                        </a:rPr>
                        <a:t>apos</a:t>
                      </a:r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&amp;#39;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13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CO" sz="2800">
                          <a:solidFill>
                            <a:srgbClr val="000000"/>
                          </a:solidFill>
                          <a:effectLst/>
                        </a:rPr>
                        <a:t>copyright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</a:t>
                      </a:r>
                      <a:r>
                        <a:rPr lang="es-CO" sz="2800" dirty="0" err="1">
                          <a:solidFill>
                            <a:srgbClr val="000000"/>
                          </a:solidFill>
                          <a:effectLst/>
                        </a:rPr>
                        <a:t>copy</a:t>
                      </a:r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&amp;#169;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252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marca registrada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</a:t>
                      </a:r>
                      <a:r>
                        <a:rPr lang="es-CO" sz="2800" dirty="0" err="1">
                          <a:solidFill>
                            <a:srgbClr val="000000"/>
                          </a:solidFill>
                          <a:effectLst/>
                        </a:rPr>
                        <a:t>reg</a:t>
                      </a:r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lvl="0" fontAlgn="t"/>
                      <a:r>
                        <a:rPr lang="es-CO" sz="2800" dirty="0">
                          <a:solidFill>
                            <a:srgbClr val="000000"/>
                          </a:solidFill>
                          <a:effectLst/>
                        </a:rPr>
                        <a:t>&amp;#174;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00445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4573B366-C711-311C-1A48-1101FF25B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980" y="3114302"/>
            <a:ext cx="3865507" cy="108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41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0" y="52685"/>
            <a:ext cx="89344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Etiquetas Semánticas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876"/>
            <a:ext cx="10515600" cy="515778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300" u="none" strike="noStrike" baseline="0" dirty="0">
                <a:solidFill>
                  <a:srgbClr val="000000"/>
                </a:solidFill>
              </a:rPr>
              <a:t>Son elementos de código HTML que indican el significado de los contenidos que contienen. Su objetivo es que las páginas web sean más claras y legibles para los usuarios y los motores de búsqueda.</a:t>
            </a:r>
          </a:p>
          <a:p>
            <a:pPr marL="0" indent="0" algn="just">
              <a:buNone/>
            </a:pPr>
            <a:r>
              <a:rPr lang="es-MX" sz="3300" u="none" strike="noStrike" baseline="0" dirty="0">
                <a:solidFill>
                  <a:srgbClr val="000000"/>
                </a:solidFill>
              </a:rPr>
              <a:t>Por ejemplo, etiquetas como </a:t>
            </a:r>
            <a:r>
              <a:rPr lang="es-MX" sz="3300" b="1" u="none" strike="noStrike" baseline="0" dirty="0" err="1">
                <a:solidFill>
                  <a:srgbClr val="000000"/>
                </a:solidFill>
              </a:rPr>
              <a:t>header</a:t>
            </a:r>
            <a:r>
              <a:rPr lang="es-MX" sz="3300" u="none" strike="noStrike" baseline="0" dirty="0">
                <a:solidFill>
                  <a:srgbClr val="000000"/>
                </a:solidFill>
              </a:rPr>
              <a:t>, </a:t>
            </a:r>
            <a:r>
              <a:rPr lang="es-MX" sz="3300" b="1" u="none" strike="noStrike" baseline="0" dirty="0" err="1">
                <a:solidFill>
                  <a:srgbClr val="000000"/>
                </a:solidFill>
              </a:rPr>
              <a:t>article</a:t>
            </a:r>
            <a:r>
              <a:rPr lang="es-MX" sz="3300" u="none" strike="noStrike" baseline="0" dirty="0">
                <a:solidFill>
                  <a:srgbClr val="000000"/>
                </a:solidFill>
              </a:rPr>
              <a:t> y </a:t>
            </a:r>
            <a:r>
              <a:rPr lang="es-MX" sz="3300" b="1" u="none" strike="noStrike" baseline="0" dirty="0" err="1">
                <a:solidFill>
                  <a:srgbClr val="000000"/>
                </a:solidFill>
              </a:rPr>
              <a:t>footer</a:t>
            </a:r>
            <a:r>
              <a:rPr lang="es-MX" sz="3300" u="none" strike="noStrike" baseline="0" dirty="0">
                <a:solidFill>
                  <a:srgbClr val="000000"/>
                </a:solidFill>
              </a:rPr>
              <a:t> son etiquetas HTML semánticas. Indican claramente la funcionalidad de su contenido. En cambio, etiquetas como </a:t>
            </a:r>
            <a:r>
              <a:rPr lang="es-MX" sz="3300" b="1" u="none" strike="noStrike" baseline="0" dirty="0" err="1">
                <a:solidFill>
                  <a:srgbClr val="000000"/>
                </a:solidFill>
              </a:rPr>
              <a:t>div</a:t>
            </a:r>
            <a:r>
              <a:rPr lang="es-MX" sz="3300" u="none" strike="noStrike" baseline="0" dirty="0">
                <a:solidFill>
                  <a:srgbClr val="000000"/>
                </a:solidFill>
              </a:rPr>
              <a:t> y </a:t>
            </a:r>
            <a:r>
              <a:rPr lang="es-MX" sz="3300" b="1" u="none" strike="noStrike" baseline="0" dirty="0" err="1">
                <a:solidFill>
                  <a:srgbClr val="000000"/>
                </a:solidFill>
              </a:rPr>
              <a:t>span</a:t>
            </a:r>
            <a:r>
              <a:rPr lang="es-MX" sz="3300" u="none" strike="noStrike" baseline="0" dirty="0">
                <a:solidFill>
                  <a:srgbClr val="000000"/>
                </a:solidFill>
              </a:rPr>
              <a:t> son ejemplos típicos de elementos HTML no semánticos. Aunque albergan contenido, no indican qué tipo de contenido contienen ni qué función desempeña esa pieza en la página.</a:t>
            </a:r>
          </a:p>
        </p:txBody>
      </p:sp>
    </p:spTree>
    <p:extLst>
      <p:ext uri="{BB962C8B-B14F-4D97-AF65-F5344CB8AC3E}">
        <p14:creationId xmlns:p14="http://schemas.microsoft.com/office/powerpoint/2010/main" val="4224428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4908" y="1906535"/>
            <a:ext cx="3333749" cy="266871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738420" y="2650793"/>
            <a:ext cx="2233380" cy="1734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HTML5 – </a:t>
            </a:r>
            <a:r>
              <a:rPr lang="en-US" sz="3600" b="1" kern="1200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Etiquetas</a:t>
            </a:r>
            <a:r>
              <a:rPr lang="en-US" sz="3600" b="1" kern="1200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Semánticas</a:t>
            </a:r>
            <a:endParaRPr lang="en-US" sz="3600" b="1" kern="1200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4" name="Marcador de contenido 3" descr="Gráfico&#10;&#10;Descripción generada automáticamente">
            <a:extLst>
              <a:ext uri="{FF2B5EF4-FFF2-40B4-BE49-F238E27FC236}">
                <a16:creationId xmlns:a16="http://schemas.microsoft.com/office/drawing/2014/main" id="{4036898D-B733-FEB0-1EC2-958A32D41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32" y="153217"/>
            <a:ext cx="7848867" cy="6547621"/>
          </a:xfrm>
          <a:prstGeom prst="rect">
            <a:avLst/>
          </a:prstGeom>
        </p:spPr>
      </p:pic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110" y="1768619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25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0" y="52685"/>
            <a:ext cx="89344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Etiquetas Table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47042"/>
            <a:ext cx="10515600" cy="228195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200" u="none" strike="noStrike" baseline="0" dirty="0">
                <a:solidFill>
                  <a:srgbClr val="000000"/>
                </a:solidFill>
              </a:rPr>
              <a:t>Se usan para crear tablas en un documento web. Dentro de una tabla, se incluyen filas y celdas para organizar y presentar información de manera estructurada. Una tabla puede ser sencilla o compleja, dependiendo del objetivo y la cantidad de etiquetas o atributos. Las etiquetas para crear una tabla son:</a:t>
            </a:r>
          </a:p>
          <a:p>
            <a:pPr marL="0" indent="0" algn="just">
              <a:buNone/>
            </a:pPr>
            <a:endParaRPr lang="es-MX" sz="3200" u="none" strike="noStrike" baseline="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es-MX" sz="3200" u="none" strike="noStrike" baseline="0" dirty="0">
                <a:solidFill>
                  <a:srgbClr val="000000"/>
                </a:solidFill>
              </a:rPr>
              <a:t>	</a:t>
            </a:r>
          </a:p>
          <a:p>
            <a:pPr marL="0" indent="0" algn="just">
              <a:buNone/>
            </a:pPr>
            <a:r>
              <a:rPr lang="es-MX" sz="3200" u="none" strike="noStrike" baseline="0" dirty="0">
                <a:solidFill>
                  <a:srgbClr val="000000"/>
                </a:solidFill>
              </a:rPr>
              <a:t>	</a:t>
            </a:r>
          </a:p>
          <a:p>
            <a:pPr marL="0" indent="0" algn="just">
              <a:buNone/>
            </a:pPr>
            <a:r>
              <a:rPr lang="es-MX" sz="3200" u="none" strike="noStrike" baseline="0" dirty="0">
                <a:solidFill>
                  <a:srgbClr val="000000"/>
                </a:solidFill>
              </a:rPr>
              <a:t>	</a:t>
            </a:r>
          </a:p>
          <a:p>
            <a:pPr marL="0" indent="0" algn="just">
              <a:buNone/>
            </a:pPr>
            <a:r>
              <a:rPr lang="es-MX" sz="3200" u="none" strike="noStrike" baseline="0" dirty="0">
                <a:solidFill>
                  <a:srgbClr val="000000"/>
                </a:solidFill>
              </a:rPr>
              <a:t>	</a:t>
            </a:r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04D13B51-7A80-8B43-208B-76F89400E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768239"/>
              </p:ext>
            </p:extLst>
          </p:nvPr>
        </p:nvGraphicFramePr>
        <p:xfrm>
          <a:off x="838199" y="3386122"/>
          <a:ext cx="10515599" cy="2828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514">
                  <a:extLst>
                    <a:ext uri="{9D8B030D-6E8A-4147-A177-3AD203B41FA5}">
                      <a16:colId xmlns:a16="http://schemas.microsoft.com/office/drawing/2014/main" val="3799397342"/>
                    </a:ext>
                  </a:extLst>
                </a:gridCol>
                <a:gridCol w="9082085">
                  <a:extLst>
                    <a:ext uri="{9D8B030D-6E8A-4147-A177-3AD203B41FA5}">
                      <a16:colId xmlns:a16="http://schemas.microsoft.com/office/drawing/2014/main" val="1906102264"/>
                    </a:ext>
                  </a:extLst>
                </a:gridCol>
              </a:tblGrid>
              <a:tr h="565788">
                <a:tc>
                  <a:txBody>
                    <a:bodyPr/>
                    <a:lstStyle/>
                    <a:p>
                      <a:pPr algn="ctr"/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Etiqueta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Descripción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275329"/>
                  </a:ext>
                </a:extLst>
              </a:tr>
              <a:tr h="565788">
                <a:tc>
                  <a:txBody>
                    <a:bodyPr/>
                    <a:lstStyle/>
                    <a:p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&lt;table&gt;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Etiqueta contenedora que tendrá en su interior toda la tabla.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383043"/>
                  </a:ext>
                </a:extLst>
              </a:tr>
              <a:tr h="565788">
                <a:tc>
                  <a:txBody>
                    <a:bodyPr/>
                    <a:lstStyle/>
                    <a:p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&lt;</a:t>
                      </a:r>
                      <a:r>
                        <a:rPr lang="es-MX" sz="2800" u="none" strike="noStrike" baseline="0" dirty="0" err="1">
                          <a:solidFill>
                            <a:srgbClr val="000000"/>
                          </a:solidFill>
                        </a:rPr>
                        <a:t>tr</a:t>
                      </a:r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&gt;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Table </a:t>
                      </a:r>
                      <a:r>
                        <a:rPr lang="es-MX" sz="2800" u="none" strike="noStrike" baseline="0" dirty="0" err="1">
                          <a:solidFill>
                            <a:srgbClr val="000000"/>
                          </a:solidFill>
                        </a:rPr>
                        <a:t>Row</a:t>
                      </a:r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. Etiqueta contenedora de cada fila de la tabla.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385262"/>
                  </a:ext>
                </a:extLst>
              </a:tr>
              <a:tr h="565788">
                <a:tc>
                  <a:txBody>
                    <a:bodyPr/>
                    <a:lstStyle/>
                    <a:p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&lt;</a:t>
                      </a:r>
                      <a:r>
                        <a:rPr lang="es-MX" sz="2800" u="none" strike="noStrike" baseline="0" dirty="0" err="1">
                          <a:solidFill>
                            <a:srgbClr val="000000"/>
                          </a:solidFill>
                        </a:rPr>
                        <a:t>td</a:t>
                      </a:r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&gt;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Table Data. Cada una de las celdas de la tabla.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088797"/>
                  </a:ext>
                </a:extLst>
              </a:tr>
              <a:tr h="565788">
                <a:tc>
                  <a:txBody>
                    <a:bodyPr/>
                    <a:lstStyle/>
                    <a:p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&lt;</a:t>
                      </a:r>
                      <a:r>
                        <a:rPr lang="es-MX" sz="2800" u="none" strike="noStrike" baseline="0" dirty="0" err="1">
                          <a:solidFill>
                            <a:srgbClr val="000000"/>
                          </a:solidFill>
                        </a:rPr>
                        <a:t>th</a:t>
                      </a:r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&gt;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Table </a:t>
                      </a:r>
                      <a:r>
                        <a:rPr lang="es-MX" sz="2800" u="none" strike="noStrike" baseline="0" dirty="0" err="1">
                          <a:solidFill>
                            <a:srgbClr val="000000"/>
                          </a:solidFill>
                        </a:rPr>
                        <a:t>Header</a:t>
                      </a:r>
                      <a:r>
                        <a:rPr lang="es-MX" sz="2800" u="none" strike="noStrike" baseline="0" dirty="0">
                          <a:solidFill>
                            <a:srgbClr val="000000"/>
                          </a:solidFill>
                        </a:rPr>
                        <a:t>. Cada una de las celdas de cabecera de la tabla.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46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658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0" y="52685"/>
            <a:ext cx="89344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Etiquetas Table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165"/>
            <a:ext cx="10515600" cy="46720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400" u="none" strike="noStrike" baseline="0" dirty="0">
                <a:solidFill>
                  <a:srgbClr val="000000"/>
                </a:solidFill>
              </a:rPr>
              <a:t>La estructura básica de una tabla, además de la etiqueta </a:t>
            </a:r>
            <a:r>
              <a:rPr lang="es-MX" sz="3400" b="1" u="none" strike="noStrike" baseline="0" dirty="0">
                <a:solidFill>
                  <a:srgbClr val="000000"/>
                </a:solidFill>
              </a:rPr>
              <a:t>table</a:t>
            </a:r>
            <a:r>
              <a:rPr lang="es-MX" sz="3400" u="none" strike="noStrike" baseline="0" dirty="0">
                <a:solidFill>
                  <a:srgbClr val="000000"/>
                </a:solidFill>
              </a:rPr>
              <a:t> contiene otras etiquetas como </a:t>
            </a:r>
            <a:r>
              <a:rPr lang="es-MX" sz="3400" b="1" u="none" strike="noStrike" baseline="0" dirty="0" err="1">
                <a:solidFill>
                  <a:srgbClr val="000000"/>
                </a:solidFill>
              </a:rPr>
              <a:t>tr</a:t>
            </a:r>
            <a:r>
              <a:rPr lang="es-MX" sz="3400" u="none" strike="noStrike" baseline="0" dirty="0">
                <a:solidFill>
                  <a:srgbClr val="000000"/>
                </a:solidFill>
              </a:rPr>
              <a:t>, </a:t>
            </a:r>
            <a:r>
              <a:rPr lang="es-MX" sz="3400" b="1" u="none" strike="noStrike" baseline="0" dirty="0" err="1">
                <a:solidFill>
                  <a:srgbClr val="000000"/>
                </a:solidFill>
              </a:rPr>
              <a:t>th</a:t>
            </a:r>
            <a:r>
              <a:rPr lang="es-MX" sz="3400" b="1" dirty="0">
                <a:solidFill>
                  <a:srgbClr val="000000"/>
                </a:solidFill>
              </a:rPr>
              <a:t>,</a:t>
            </a:r>
            <a:r>
              <a:rPr lang="es-MX" sz="3400" u="none" strike="noStrike" baseline="0" dirty="0">
                <a:solidFill>
                  <a:srgbClr val="000000"/>
                </a:solidFill>
              </a:rPr>
              <a:t> </a:t>
            </a:r>
            <a:r>
              <a:rPr lang="es-MX" sz="3400" b="1" u="none" strike="noStrike" baseline="0" dirty="0" err="1">
                <a:solidFill>
                  <a:srgbClr val="000000"/>
                </a:solidFill>
              </a:rPr>
              <a:t>td</a:t>
            </a:r>
            <a:r>
              <a:rPr lang="es-MX" sz="3400" b="1" u="none" strike="noStrike" baseline="0" dirty="0">
                <a:solidFill>
                  <a:srgbClr val="000000"/>
                </a:solidFill>
              </a:rPr>
              <a:t>, </a:t>
            </a:r>
            <a:r>
              <a:rPr lang="es-MX" sz="3400" b="1" u="none" strike="noStrike" baseline="0" dirty="0" err="1">
                <a:solidFill>
                  <a:srgbClr val="000000"/>
                </a:solidFill>
              </a:rPr>
              <a:t>thead</a:t>
            </a:r>
            <a:r>
              <a:rPr lang="es-MX" sz="3400" u="none" strike="noStrike" baseline="0" dirty="0">
                <a:solidFill>
                  <a:srgbClr val="000000"/>
                </a:solidFill>
              </a:rPr>
              <a:t>, </a:t>
            </a:r>
            <a:r>
              <a:rPr lang="es-MX" sz="3400" b="1" u="none" strike="noStrike" baseline="0" dirty="0" err="1">
                <a:solidFill>
                  <a:srgbClr val="000000"/>
                </a:solidFill>
              </a:rPr>
              <a:t>tbody</a:t>
            </a:r>
            <a:r>
              <a:rPr lang="es-MX" sz="3400" u="none" strike="noStrike" baseline="0" dirty="0">
                <a:solidFill>
                  <a:srgbClr val="000000"/>
                </a:solidFill>
              </a:rPr>
              <a:t> y </a:t>
            </a:r>
            <a:r>
              <a:rPr lang="es-MX" sz="3400" b="1" u="none" strike="noStrike" baseline="0" dirty="0" err="1">
                <a:solidFill>
                  <a:srgbClr val="000000"/>
                </a:solidFill>
              </a:rPr>
              <a:t>tfoot</a:t>
            </a:r>
            <a:r>
              <a:rPr lang="es-MX" sz="3400" u="none" strike="noStrike" baseline="0" dirty="0">
                <a:solidFill>
                  <a:srgbClr val="000000"/>
                </a:solidFill>
              </a:rPr>
              <a:t>.</a:t>
            </a:r>
          </a:p>
          <a:p>
            <a:pPr marL="0" indent="0" algn="just">
              <a:buNone/>
            </a:pPr>
            <a:r>
              <a:rPr lang="es-MX" sz="3400" b="1" u="none" strike="noStrike" baseline="0" dirty="0" err="1">
                <a:solidFill>
                  <a:srgbClr val="000000"/>
                </a:solidFill>
              </a:rPr>
              <a:t>thead</a:t>
            </a:r>
            <a:r>
              <a:rPr lang="es-MX" sz="3400" u="none" strike="noStrike" baseline="0" dirty="0">
                <a:solidFill>
                  <a:srgbClr val="000000"/>
                </a:solidFill>
              </a:rPr>
              <a:t> crea un encabezado de tabla que se mostrará al principio de la tabla y se utiliza para describir las columnas.</a:t>
            </a:r>
          </a:p>
          <a:p>
            <a:pPr marL="0" indent="0" algn="just">
              <a:buNone/>
            </a:pPr>
            <a:r>
              <a:rPr lang="es-MX" sz="3400" b="1" u="none" strike="noStrike" baseline="0" dirty="0" err="1">
                <a:solidFill>
                  <a:srgbClr val="000000"/>
                </a:solidFill>
              </a:rPr>
              <a:t>tbody</a:t>
            </a:r>
            <a:r>
              <a:rPr lang="es-MX" sz="3400" u="none" strike="noStrike" baseline="0" dirty="0">
                <a:solidFill>
                  <a:srgbClr val="000000"/>
                </a:solidFill>
              </a:rPr>
              <a:t> crea el cuerpo de la tabla, donde se incluyen las filas y celdas con los datos.</a:t>
            </a:r>
          </a:p>
          <a:p>
            <a:pPr marL="0" indent="0" algn="just">
              <a:buNone/>
            </a:pPr>
            <a:r>
              <a:rPr lang="es-MX" sz="3400" b="1" u="none" strike="noStrike" baseline="0" dirty="0" err="1">
                <a:solidFill>
                  <a:srgbClr val="000000"/>
                </a:solidFill>
              </a:rPr>
              <a:t>tfoot</a:t>
            </a:r>
            <a:r>
              <a:rPr lang="es-MX" sz="3400" u="none" strike="noStrike" baseline="0" dirty="0">
                <a:solidFill>
                  <a:srgbClr val="000000"/>
                </a:solidFill>
              </a:rPr>
              <a:t> crea un pie de tabla que se mostrará al final de la tabla y se utiliza para mostrar información resumen.</a:t>
            </a:r>
          </a:p>
        </p:txBody>
      </p:sp>
    </p:spTree>
    <p:extLst>
      <p:ext uri="{BB962C8B-B14F-4D97-AF65-F5344CB8AC3E}">
        <p14:creationId xmlns:p14="http://schemas.microsoft.com/office/powerpoint/2010/main" val="432597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582" y="2263729"/>
            <a:ext cx="3333749" cy="2382965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503110" y="2651944"/>
            <a:ext cx="1940054" cy="18200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HTML5 – </a:t>
            </a:r>
            <a:r>
              <a:rPr lang="en-US" sz="3600" b="1" kern="1200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Atributos</a:t>
            </a:r>
            <a:r>
              <a:rPr lang="en-US" sz="3600" b="1" kern="1200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colspan</a:t>
            </a:r>
            <a:endParaRPr lang="en-US" sz="3600" b="1" kern="1200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rowspan</a:t>
            </a:r>
            <a:endParaRPr lang="en-US" sz="3600" b="1" kern="1200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37" y="1868530"/>
            <a:ext cx="720000" cy="720000"/>
          </a:xfrm>
          <a:prstGeom prst="rect">
            <a:avLst/>
          </a:prstGeom>
        </p:spPr>
      </p:pic>
      <p:pic>
        <p:nvPicPr>
          <p:cNvPr id="5" name="Marcador de contenido 4" descr="Tabla&#10;&#10;Descripción generada automáticamente con confianza media">
            <a:extLst>
              <a:ext uri="{FF2B5EF4-FFF2-40B4-BE49-F238E27FC236}">
                <a16:creationId xmlns:a16="http://schemas.microsoft.com/office/drawing/2014/main" id="{A576A808-654C-8B6A-F472-9FFE9CAC1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235" y="328613"/>
            <a:ext cx="8783955" cy="6215062"/>
          </a:xfrm>
        </p:spPr>
      </p:pic>
    </p:spTree>
    <p:extLst>
      <p:ext uri="{BB962C8B-B14F-4D97-AF65-F5344CB8AC3E}">
        <p14:creationId xmlns:p14="http://schemas.microsoft.com/office/powerpoint/2010/main" val="3377648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0" y="52685"/>
            <a:ext cx="89344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Etiquetas para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Form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ADD4547E-22D9-5194-76AC-603C7B302C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7937671"/>
              </p:ext>
            </p:extLst>
          </p:nvPr>
        </p:nvGraphicFramePr>
        <p:xfrm>
          <a:off x="986165" y="1221512"/>
          <a:ext cx="10219669" cy="5194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624">
                  <a:extLst>
                    <a:ext uri="{9D8B030D-6E8A-4147-A177-3AD203B41FA5}">
                      <a16:colId xmlns:a16="http://schemas.microsoft.com/office/drawing/2014/main" val="3669064690"/>
                    </a:ext>
                  </a:extLst>
                </a:gridCol>
                <a:gridCol w="7208045">
                  <a:extLst>
                    <a:ext uri="{9D8B030D-6E8A-4147-A177-3AD203B41FA5}">
                      <a16:colId xmlns:a16="http://schemas.microsoft.com/office/drawing/2014/main" val="209057676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47272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400" b="1" dirty="0">
                          <a:effectLst/>
                          <a:latin typeface="+mn-lt"/>
                        </a:rPr>
                        <a:t>Etiqueta</a:t>
                      </a:r>
                      <a:endParaRPr lang="es-CO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400" b="1" dirty="0">
                          <a:effectLst/>
                          <a:latin typeface="+mn-lt"/>
                        </a:rPr>
                        <a:t>Descripción</a:t>
                      </a:r>
                      <a:endParaRPr lang="es-CO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400" b="1" dirty="0">
                          <a:effectLst/>
                          <a:latin typeface="+mn-lt"/>
                        </a:rPr>
                        <a:t>Tipo</a:t>
                      </a:r>
                      <a:endParaRPr lang="es-CO" sz="2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796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 err="1">
                          <a:effectLst/>
                          <a:latin typeface="+mn-lt"/>
                        </a:rPr>
                        <a:t>Label</a:t>
                      </a:r>
                      <a:endParaRPr lang="es-CO" sz="2400" dirty="0">
                        <a:effectLst/>
                        <a:latin typeface="+mn-lt"/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effectLst/>
                          <a:latin typeface="+mn-lt"/>
                        </a:rPr>
                        <a:t>Indica la descripción de un campo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CO" sz="2400" dirty="0">
                          <a:effectLst/>
                          <a:latin typeface="+mn-lt"/>
                        </a:rPr>
                        <a:t>Línea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558874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>
                          <a:effectLst/>
                          <a:latin typeface="+mn-lt"/>
                        </a:rPr>
                        <a:t>Input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effectLst/>
                          <a:latin typeface="+mn-lt"/>
                        </a:rPr>
                        <a:t>Define un campo de entrada, junto con el atributo </a:t>
                      </a:r>
                      <a:r>
                        <a:rPr lang="es-MX" sz="2400" b="1" dirty="0" err="1">
                          <a:effectLst/>
                          <a:latin typeface="+mn-lt"/>
                        </a:rPr>
                        <a:t>type</a:t>
                      </a:r>
                      <a:endParaRPr lang="es-MX" sz="2400" dirty="0">
                        <a:effectLst/>
                        <a:latin typeface="+mn-lt"/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Línea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30935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 err="1">
                          <a:effectLst/>
                          <a:latin typeface="+mn-lt"/>
                        </a:rPr>
                        <a:t>Select</a:t>
                      </a:r>
                      <a:endParaRPr lang="es-CO" sz="2400" dirty="0">
                        <a:effectLst/>
                        <a:latin typeface="+mn-lt"/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CO" sz="2400" dirty="0">
                          <a:effectLst/>
                          <a:latin typeface="+mn-lt"/>
                        </a:rPr>
                        <a:t>Define una lista desplegable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Línea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792045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 err="1">
                          <a:effectLst/>
                          <a:latin typeface="+mn-lt"/>
                        </a:rPr>
                        <a:t>Option</a:t>
                      </a:r>
                      <a:endParaRPr lang="es-CO" sz="2400" dirty="0">
                        <a:effectLst/>
                        <a:latin typeface="+mn-lt"/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effectLst/>
                          <a:latin typeface="+mn-lt"/>
                        </a:rPr>
                        <a:t>Define una opción de la lista desplegable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Línea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701325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 err="1">
                          <a:effectLst/>
                          <a:latin typeface="+mn-lt"/>
                        </a:rPr>
                        <a:t>Optgroup</a:t>
                      </a:r>
                      <a:endParaRPr lang="es-CO" sz="2400" dirty="0">
                        <a:effectLst/>
                        <a:latin typeface="+mn-lt"/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effectLst/>
                          <a:latin typeface="+mn-lt"/>
                        </a:rPr>
                        <a:t>Agrupa opciones relacionadas en un elemento </a:t>
                      </a:r>
                      <a:r>
                        <a:rPr lang="es-MX" sz="2400" b="1" dirty="0" err="1">
                          <a:effectLst/>
                          <a:latin typeface="+mn-lt"/>
                        </a:rPr>
                        <a:t>select</a:t>
                      </a:r>
                      <a:endParaRPr lang="es-MX" sz="2400" b="1" dirty="0">
                        <a:effectLst/>
                        <a:latin typeface="+mn-lt"/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Bloque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318669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 err="1">
                          <a:effectLst/>
                          <a:latin typeface="+mn-lt"/>
                        </a:rPr>
                        <a:t>Textarea</a:t>
                      </a:r>
                      <a:endParaRPr lang="es-CO" sz="2400" dirty="0">
                        <a:effectLst/>
                        <a:latin typeface="+mn-lt"/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effectLst/>
                          <a:latin typeface="+mn-lt"/>
                        </a:rPr>
                        <a:t>Define un campo de varios líneas de texto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Línea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42075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 err="1">
                          <a:effectLst/>
                          <a:latin typeface="+mn-lt"/>
                        </a:rPr>
                        <a:t>Button</a:t>
                      </a:r>
                      <a:endParaRPr lang="es-CO" sz="2400" dirty="0">
                        <a:effectLst/>
                        <a:latin typeface="+mn-lt"/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CO" sz="2400" dirty="0">
                          <a:effectLst/>
                          <a:latin typeface="+mn-lt"/>
                        </a:rPr>
                        <a:t>Define un botón con una función propia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dirty="0">
                          <a:effectLst/>
                          <a:latin typeface="+mn-lt"/>
                        </a:rPr>
                        <a:t>Línea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984272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 err="1">
                          <a:effectLst/>
                          <a:latin typeface="+mn-lt"/>
                        </a:rPr>
                        <a:t>Fieldset</a:t>
                      </a:r>
                      <a:endParaRPr lang="es-CO" sz="2400" dirty="0">
                        <a:effectLst/>
                        <a:latin typeface="+mn-lt"/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effectLst/>
                          <a:latin typeface="+mn-lt"/>
                        </a:rPr>
                        <a:t>Permite agrupar los campos de un formulario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CO" sz="2400" dirty="0">
                          <a:effectLst/>
                          <a:latin typeface="+mn-lt"/>
                        </a:rPr>
                        <a:t>Bloque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753586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 err="1">
                          <a:effectLst/>
                          <a:latin typeface="+mn-lt"/>
                        </a:rPr>
                        <a:t>Legend</a:t>
                      </a:r>
                      <a:endParaRPr lang="es-CO" sz="2400" dirty="0">
                        <a:effectLst/>
                        <a:latin typeface="+mn-lt"/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effectLst/>
                          <a:latin typeface="+mn-lt"/>
                        </a:rPr>
                        <a:t>Crea un titulo para un grupo de campos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CO" sz="2400" dirty="0">
                          <a:effectLst/>
                          <a:latin typeface="+mn-lt"/>
                        </a:rPr>
                        <a:t>Línea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56006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 err="1">
                          <a:effectLst/>
                          <a:latin typeface="+mn-lt"/>
                        </a:rPr>
                        <a:t>Datalist</a:t>
                      </a:r>
                      <a:endParaRPr lang="es-CO" sz="2400" dirty="0">
                        <a:effectLst/>
                        <a:latin typeface="+mn-lt"/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effectLst/>
                          <a:latin typeface="+mn-lt"/>
                        </a:rPr>
                        <a:t>Especifica una lista de opciones para un elemento </a:t>
                      </a:r>
                      <a:r>
                        <a:rPr lang="es-MX" sz="2400" b="1" dirty="0">
                          <a:effectLst/>
                          <a:latin typeface="+mn-lt"/>
                        </a:rPr>
                        <a:t>input</a:t>
                      </a:r>
                      <a:endParaRPr lang="es-MX" sz="2400" dirty="0">
                        <a:effectLst/>
                        <a:latin typeface="+mn-lt"/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CO" sz="2400" dirty="0">
                          <a:effectLst/>
                          <a:latin typeface="+mn-lt"/>
                        </a:rPr>
                        <a:t>Línea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265061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>
                          <a:effectLst/>
                          <a:latin typeface="+mn-lt"/>
                        </a:rPr>
                        <a:t>Output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effectLst/>
                          <a:latin typeface="+mn-lt"/>
                        </a:rPr>
                        <a:t>Se utiliza para representar el resultado de un cálculo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s-CO" sz="2400" dirty="0">
                          <a:effectLst/>
                          <a:latin typeface="+mn-lt"/>
                        </a:rPr>
                        <a:t>Bloque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157692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043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1" y="52685"/>
            <a:ext cx="711993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Etiqueta Input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7301"/>
            <a:ext cx="10515600" cy="49434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200" u="none" strike="noStrike" baseline="0" dirty="0">
                <a:solidFill>
                  <a:srgbClr val="000000"/>
                </a:solidFill>
              </a:rPr>
              <a:t>Permite reunir información mediante diversos tipos de campos de entrada. </a:t>
            </a:r>
            <a:r>
              <a:rPr lang="es-MX" sz="3200" b="1" u="none" strike="noStrike" baseline="0" dirty="0">
                <a:solidFill>
                  <a:srgbClr val="000000"/>
                </a:solidFill>
              </a:rPr>
              <a:t>input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 </a:t>
            </a:r>
            <a:r>
              <a:rPr lang="es-MX" sz="3200" dirty="0">
                <a:solidFill>
                  <a:srgbClr val="000000"/>
                </a:solidFill>
              </a:rPr>
              <a:t>es útil 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en la creación de formularios para recopilar datos para una encuesta, permitir que usuarios se registren en un sitio web o aceptar información para procesar un pago. </a:t>
            </a:r>
            <a:r>
              <a:rPr lang="es-MX" sz="3200" b="1" u="none" strike="noStrike" baseline="0" dirty="0">
                <a:solidFill>
                  <a:srgbClr val="000000"/>
                </a:solidFill>
              </a:rPr>
              <a:t>input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 se configura para aceptar diferentes tipos de entrada, como texto, fechas, e-mails, números, archivos y muchos otros, con el atributo </a:t>
            </a:r>
            <a:r>
              <a:rPr lang="es-MX" sz="3200" b="1" u="none" strike="noStrike" baseline="0" dirty="0" err="1">
                <a:solidFill>
                  <a:srgbClr val="000000"/>
                </a:solidFill>
              </a:rPr>
              <a:t>type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. Otro atributo importante es </a:t>
            </a:r>
            <a:r>
              <a:rPr lang="es-MX" sz="3200" b="1" u="none" strike="noStrike" baseline="0" dirty="0" err="1">
                <a:solidFill>
                  <a:srgbClr val="000000"/>
                </a:solidFill>
              </a:rPr>
              <a:t>name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, ya que su función es indicar el nombre de la información al servidor. Estos nombres se emparejan con el valor que ingresa el usuario, y así manejar la información en el back-</a:t>
            </a:r>
            <a:r>
              <a:rPr lang="es-MX" sz="3200" u="none" strike="noStrike" baseline="0" dirty="0" err="1">
                <a:solidFill>
                  <a:srgbClr val="000000"/>
                </a:solidFill>
              </a:rPr>
              <a:t>end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 o referenciar el elemento con JS con facilidad.</a:t>
            </a:r>
          </a:p>
        </p:txBody>
      </p:sp>
    </p:spTree>
    <p:extLst>
      <p:ext uri="{BB962C8B-B14F-4D97-AF65-F5344CB8AC3E}">
        <p14:creationId xmlns:p14="http://schemas.microsoft.com/office/powerpoint/2010/main" val="849676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42007" y="1966056"/>
            <a:ext cx="3333749" cy="2868740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457186" y="2714171"/>
            <a:ext cx="2343147" cy="18003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HTML5 – Input Types</a:t>
            </a:r>
          </a:p>
        </p:txBody>
      </p:sp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759" y="1784095"/>
            <a:ext cx="720000" cy="720000"/>
          </a:xfrm>
          <a:prstGeom prst="rect">
            <a:avLst/>
          </a:prstGeom>
        </p:spPr>
      </p:pic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F3BF7430-8FA6-44B1-4097-E48708420F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965968"/>
              </p:ext>
            </p:extLst>
          </p:nvPr>
        </p:nvGraphicFramePr>
        <p:xfrm>
          <a:off x="3694582" y="671513"/>
          <a:ext cx="8040232" cy="54685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77856">
                  <a:extLst>
                    <a:ext uri="{9D8B030D-6E8A-4147-A177-3AD203B41FA5}">
                      <a16:colId xmlns:a16="http://schemas.microsoft.com/office/drawing/2014/main" val="819049364"/>
                    </a:ext>
                  </a:extLst>
                </a:gridCol>
                <a:gridCol w="3662376">
                  <a:extLst>
                    <a:ext uri="{9D8B030D-6E8A-4147-A177-3AD203B41FA5}">
                      <a16:colId xmlns:a16="http://schemas.microsoft.com/office/drawing/2014/main" val="3502943450"/>
                    </a:ext>
                  </a:extLst>
                </a:gridCol>
              </a:tblGrid>
              <a:tr h="461749">
                <a:tc>
                  <a:txBody>
                    <a:bodyPr/>
                    <a:lstStyle/>
                    <a:p>
                      <a:r>
                        <a:rPr lang="es-CO" sz="2600" dirty="0"/>
                        <a:t>&lt;input </a:t>
                      </a:r>
                      <a:r>
                        <a:rPr lang="es-CO" sz="2600" dirty="0" err="1"/>
                        <a:t>type</a:t>
                      </a:r>
                      <a:r>
                        <a:rPr lang="es-CO" sz="2600" dirty="0"/>
                        <a:t>="</a:t>
                      </a:r>
                      <a:r>
                        <a:rPr lang="es-CO" sz="2600" dirty="0" err="1"/>
                        <a:t>button</a:t>
                      </a:r>
                      <a:r>
                        <a:rPr lang="es-CO" sz="2600" dirty="0"/>
                        <a:t>"&gt;</a:t>
                      </a:r>
                    </a:p>
                  </a:txBody>
                  <a:tcPr marL="76195" marR="76195" marT="38098" marB="380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</a:t>
                      </a:r>
                      <a:r>
                        <a:rPr lang="es-CO" sz="2600" err="1"/>
                        <a:t>password</a:t>
                      </a:r>
                      <a:r>
                        <a:rPr lang="es-CO" sz="2600"/>
                        <a:t>"&gt;</a:t>
                      </a:r>
                    </a:p>
                  </a:txBody>
                  <a:tcPr marL="76195" marR="76195" marT="38098" marB="38098"/>
                </a:tc>
                <a:extLst>
                  <a:ext uri="{0D108BD9-81ED-4DB2-BD59-A6C34878D82A}">
                    <a16:rowId xmlns:a16="http://schemas.microsoft.com/office/drawing/2014/main" val="2567149121"/>
                  </a:ext>
                </a:extLst>
              </a:tr>
              <a:tr h="498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</a:t>
                      </a:r>
                      <a:r>
                        <a:rPr lang="es-CO" sz="2600" err="1"/>
                        <a:t>checkbox</a:t>
                      </a:r>
                      <a:r>
                        <a:rPr lang="es-CO" sz="2600"/>
                        <a:t>"&gt;</a:t>
                      </a:r>
                    </a:p>
                  </a:txBody>
                  <a:tcPr marL="76195" marR="76195" marT="38098" marB="380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="radio"&gt;</a:t>
                      </a:r>
                    </a:p>
                  </a:txBody>
                  <a:tcPr marL="76195" marR="76195" marT="38098" marB="38098"/>
                </a:tc>
                <a:extLst>
                  <a:ext uri="{0D108BD9-81ED-4DB2-BD59-A6C34878D82A}">
                    <a16:rowId xmlns:a16="http://schemas.microsoft.com/office/drawing/2014/main" val="731751474"/>
                  </a:ext>
                </a:extLst>
              </a:tr>
              <a:tr h="498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="color"&gt;</a:t>
                      </a:r>
                    </a:p>
                  </a:txBody>
                  <a:tcPr marL="76195" marR="76195" marT="38098" marB="380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</a:t>
                      </a:r>
                      <a:r>
                        <a:rPr lang="es-CO" sz="2600" err="1"/>
                        <a:t>range</a:t>
                      </a:r>
                      <a:r>
                        <a:rPr lang="es-CO" sz="2600"/>
                        <a:t>"&gt;</a:t>
                      </a:r>
                    </a:p>
                  </a:txBody>
                  <a:tcPr marL="76195" marR="76195" marT="38098" marB="38098"/>
                </a:tc>
                <a:extLst>
                  <a:ext uri="{0D108BD9-81ED-4DB2-BD59-A6C34878D82A}">
                    <a16:rowId xmlns:a16="http://schemas.microsoft.com/office/drawing/2014/main" val="1450839046"/>
                  </a:ext>
                </a:extLst>
              </a:tr>
              <a:tr h="498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="date"&gt;</a:t>
                      </a:r>
                    </a:p>
                  </a:txBody>
                  <a:tcPr marL="76195" marR="76195" marT="38098" marB="380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</a:t>
                      </a:r>
                      <a:r>
                        <a:rPr lang="es-CO" sz="2600" err="1"/>
                        <a:t>reset</a:t>
                      </a:r>
                      <a:r>
                        <a:rPr lang="es-CO" sz="2600"/>
                        <a:t>"&gt;</a:t>
                      </a:r>
                    </a:p>
                  </a:txBody>
                  <a:tcPr marL="76195" marR="76195" marT="38098" marB="38098"/>
                </a:tc>
                <a:extLst>
                  <a:ext uri="{0D108BD9-81ED-4DB2-BD59-A6C34878D82A}">
                    <a16:rowId xmlns:a16="http://schemas.microsoft.com/office/drawing/2014/main" val="1294658683"/>
                  </a:ext>
                </a:extLst>
              </a:tr>
              <a:tr h="5080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 dirty="0"/>
                        <a:t>&lt;input </a:t>
                      </a:r>
                      <a:r>
                        <a:rPr lang="es-CO" sz="2600" dirty="0" err="1"/>
                        <a:t>type</a:t>
                      </a:r>
                      <a:r>
                        <a:rPr lang="es-CO" sz="2600" dirty="0"/>
                        <a:t>="</a:t>
                      </a:r>
                      <a:r>
                        <a:rPr lang="es-CO" sz="2600" dirty="0" err="1"/>
                        <a:t>datetime</a:t>
                      </a:r>
                      <a:r>
                        <a:rPr lang="es-CO" sz="2600" dirty="0"/>
                        <a:t>-local"&gt;</a:t>
                      </a:r>
                    </a:p>
                  </a:txBody>
                  <a:tcPr marL="76195" marR="76195" marT="38098" marB="380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 dirty="0"/>
                        <a:t>&lt;input </a:t>
                      </a:r>
                      <a:r>
                        <a:rPr lang="es-CO" sz="2600" dirty="0" err="1"/>
                        <a:t>type</a:t>
                      </a:r>
                      <a:r>
                        <a:rPr lang="es-CO" sz="2600" dirty="0"/>
                        <a:t>="</a:t>
                      </a:r>
                      <a:r>
                        <a:rPr lang="es-CO" sz="2600" dirty="0" err="1"/>
                        <a:t>search</a:t>
                      </a:r>
                      <a:r>
                        <a:rPr lang="es-CO" sz="2600" dirty="0"/>
                        <a:t>"&gt;</a:t>
                      </a:r>
                    </a:p>
                  </a:txBody>
                  <a:tcPr marL="76195" marR="76195" marT="38098" marB="38098"/>
                </a:tc>
                <a:extLst>
                  <a:ext uri="{0D108BD9-81ED-4DB2-BD59-A6C34878D82A}">
                    <a16:rowId xmlns:a16="http://schemas.microsoft.com/office/drawing/2014/main" val="3104280557"/>
                  </a:ext>
                </a:extLst>
              </a:tr>
              <a:tr h="498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="email"&gt;</a:t>
                      </a:r>
                    </a:p>
                  </a:txBody>
                  <a:tcPr marL="76195" marR="76195" marT="38098" marB="380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</a:t>
                      </a:r>
                      <a:r>
                        <a:rPr lang="es-CO" sz="2600" err="1"/>
                        <a:t>submit</a:t>
                      </a:r>
                      <a:r>
                        <a:rPr lang="es-CO" sz="2600"/>
                        <a:t>"&gt;</a:t>
                      </a:r>
                    </a:p>
                  </a:txBody>
                  <a:tcPr marL="76195" marR="76195" marT="38098" marB="38098"/>
                </a:tc>
                <a:extLst>
                  <a:ext uri="{0D108BD9-81ED-4DB2-BD59-A6C34878D82A}">
                    <a16:rowId xmlns:a16="http://schemas.microsoft.com/office/drawing/2014/main" val="1520223270"/>
                  </a:ext>
                </a:extLst>
              </a:tr>
              <a:tr h="498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="file"&gt;</a:t>
                      </a:r>
                    </a:p>
                  </a:txBody>
                  <a:tcPr marL="76195" marR="76195" marT="38098" marB="380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</a:t>
                      </a:r>
                      <a:r>
                        <a:rPr lang="es-CO" sz="2600" err="1"/>
                        <a:t>tel</a:t>
                      </a:r>
                      <a:r>
                        <a:rPr lang="es-CO" sz="2600"/>
                        <a:t>"&gt;</a:t>
                      </a:r>
                    </a:p>
                  </a:txBody>
                  <a:tcPr marL="76195" marR="76195" marT="38098" marB="38098"/>
                </a:tc>
                <a:extLst>
                  <a:ext uri="{0D108BD9-81ED-4DB2-BD59-A6C34878D82A}">
                    <a16:rowId xmlns:a16="http://schemas.microsoft.com/office/drawing/2014/main" val="1875728152"/>
                  </a:ext>
                </a:extLst>
              </a:tr>
              <a:tr h="498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</a:t>
                      </a:r>
                      <a:r>
                        <a:rPr lang="es-CO" sz="2600" err="1"/>
                        <a:t>hidden</a:t>
                      </a:r>
                      <a:r>
                        <a:rPr lang="es-CO" sz="2600"/>
                        <a:t>"&gt;</a:t>
                      </a:r>
                    </a:p>
                  </a:txBody>
                  <a:tcPr marL="76195" marR="76195" marT="38098" marB="380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</a:t>
                      </a:r>
                      <a:r>
                        <a:rPr lang="es-CO" sz="2600" err="1"/>
                        <a:t>text</a:t>
                      </a:r>
                      <a:r>
                        <a:rPr lang="es-CO" sz="2600"/>
                        <a:t>"&gt;</a:t>
                      </a:r>
                    </a:p>
                  </a:txBody>
                  <a:tcPr marL="76195" marR="76195" marT="38098" marB="38098"/>
                </a:tc>
                <a:extLst>
                  <a:ext uri="{0D108BD9-81ED-4DB2-BD59-A6C34878D82A}">
                    <a16:rowId xmlns:a16="http://schemas.microsoft.com/office/drawing/2014/main" val="4053239978"/>
                  </a:ext>
                </a:extLst>
              </a:tr>
              <a:tr h="498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</a:t>
                      </a:r>
                      <a:r>
                        <a:rPr lang="es-CO" sz="2600" err="1"/>
                        <a:t>image</a:t>
                      </a:r>
                      <a:r>
                        <a:rPr lang="es-CO" sz="2600"/>
                        <a:t>"&gt;</a:t>
                      </a:r>
                    </a:p>
                  </a:txBody>
                  <a:tcPr marL="76195" marR="76195" marT="38098" marB="380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 dirty="0"/>
                        <a:t>&lt;input </a:t>
                      </a:r>
                      <a:r>
                        <a:rPr lang="es-CO" sz="2600" dirty="0" err="1"/>
                        <a:t>type</a:t>
                      </a:r>
                      <a:r>
                        <a:rPr lang="es-CO" sz="2600" dirty="0"/>
                        <a:t>="time"&gt;</a:t>
                      </a:r>
                    </a:p>
                  </a:txBody>
                  <a:tcPr marL="76195" marR="76195" marT="38098" marB="38098"/>
                </a:tc>
                <a:extLst>
                  <a:ext uri="{0D108BD9-81ED-4DB2-BD59-A6C34878D82A}">
                    <a16:rowId xmlns:a16="http://schemas.microsoft.com/office/drawing/2014/main" val="521441239"/>
                  </a:ext>
                </a:extLst>
              </a:tr>
              <a:tr h="498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</a:t>
                      </a:r>
                      <a:r>
                        <a:rPr lang="es-CO" sz="2600" err="1"/>
                        <a:t>month</a:t>
                      </a:r>
                      <a:r>
                        <a:rPr lang="es-CO" sz="2600"/>
                        <a:t>"&gt;</a:t>
                      </a:r>
                    </a:p>
                  </a:txBody>
                  <a:tcPr marL="76195" marR="76195" marT="38098" marB="380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</a:t>
                      </a:r>
                      <a:r>
                        <a:rPr lang="es-CO" sz="2600" err="1"/>
                        <a:t>url</a:t>
                      </a:r>
                      <a:r>
                        <a:rPr lang="es-CO" sz="2600"/>
                        <a:t>"&gt;</a:t>
                      </a:r>
                    </a:p>
                  </a:txBody>
                  <a:tcPr marL="76195" marR="76195" marT="38098" marB="38098"/>
                </a:tc>
                <a:extLst>
                  <a:ext uri="{0D108BD9-81ED-4DB2-BD59-A6C34878D82A}">
                    <a16:rowId xmlns:a16="http://schemas.microsoft.com/office/drawing/2014/main" val="3350293178"/>
                  </a:ext>
                </a:extLst>
              </a:tr>
              <a:tr h="498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/>
                        <a:t>&lt;input </a:t>
                      </a:r>
                      <a:r>
                        <a:rPr lang="es-CO" sz="2600" err="1"/>
                        <a:t>type</a:t>
                      </a:r>
                      <a:r>
                        <a:rPr lang="es-CO" sz="2600"/>
                        <a:t>="</a:t>
                      </a:r>
                      <a:r>
                        <a:rPr lang="es-CO" sz="2600" err="1"/>
                        <a:t>number</a:t>
                      </a:r>
                      <a:r>
                        <a:rPr lang="es-CO" sz="2600"/>
                        <a:t>"&gt;</a:t>
                      </a:r>
                    </a:p>
                  </a:txBody>
                  <a:tcPr marL="76195" marR="76195" marT="38098" marB="380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600" dirty="0"/>
                        <a:t>&lt;input </a:t>
                      </a:r>
                      <a:r>
                        <a:rPr lang="es-CO" sz="2600" dirty="0" err="1"/>
                        <a:t>type</a:t>
                      </a:r>
                      <a:r>
                        <a:rPr lang="es-CO" sz="2600" dirty="0"/>
                        <a:t>="</a:t>
                      </a:r>
                      <a:r>
                        <a:rPr lang="es-CO" sz="2600" dirty="0" err="1"/>
                        <a:t>week</a:t>
                      </a:r>
                      <a:r>
                        <a:rPr lang="es-CO" sz="2600" dirty="0"/>
                        <a:t>"&gt;</a:t>
                      </a:r>
                    </a:p>
                  </a:txBody>
                  <a:tcPr marL="76195" marR="76195" marT="38098" marB="38098"/>
                </a:tc>
                <a:extLst>
                  <a:ext uri="{0D108BD9-81ED-4DB2-BD59-A6C34878D82A}">
                    <a16:rowId xmlns:a16="http://schemas.microsoft.com/office/drawing/2014/main" val="4109415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16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00" y="247218"/>
            <a:ext cx="720000" cy="720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838200" y="52685"/>
            <a:ext cx="803433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E40E1D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HTML5 – Consideraciones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E40E1D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D12CE-BDD2-9DBF-C854-2613B972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7302"/>
            <a:ext cx="10515600" cy="50149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200" b="1" u="none" strike="noStrike" baseline="0" dirty="0">
                <a:solidFill>
                  <a:srgbClr val="000000"/>
                </a:solidFill>
              </a:rPr>
              <a:t>Semántica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: </a:t>
            </a:r>
            <a:r>
              <a:rPr lang="es-MX" sz="3200" u="none" strike="noStrike" baseline="0" dirty="0" err="1">
                <a:solidFill>
                  <a:srgbClr val="000000"/>
                </a:solidFill>
              </a:rPr>
              <a:t>button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 semánticamente es un botón, mientras que input </a:t>
            </a:r>
            <a:r>
              <a:rPr lang="es-MX" sz="3200" u="none" strike="noStrike" baseline="0" dirty="0" err="1">
                <a:solidFill>
                  <a:srgbClr val="000000"/>
                </a:solidFill>
              </a:rPr>
              <a:t>type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="</a:t>
            </a:r>
            <a:r>
              <a:rPr lang="es-MX" sz="3200" u="none" strike="noStrike" baseline="0" dirty="0" err="1">
                <a:solidFill>
                  <a:srgbClr val="000000"/>
                </a:solidFill>
              </a:rPr>
              <a:t>submit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" es un input que se convierte en botón.</a:t>
            </a:r>
          </a:p>
          <a:p>
            <a:pPr marL="0" indent="0" algn="just">
              <a:buNone/>
            </a:pPr>
            <a:r>
              <a:rPr lang="es-MX" sz="3200" b="1" u="none" strike="noStrike" baseline="0" dirty="0">
                <a:solidFill>
                  <a:srgbClr val="000000"/>
                </a:solidFill>
              </a:rPr>
              <a:t>Personalización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: los </a:t>
            </a:r>
            <a:r>
              <a:rPr lang="es-MX" sz="3200" b="1" u="none" strike="noStrike" baseline="0" dirty="0">
                <a:solidFill>
                  <a:srgbClr val="000000"/>
                </a:solidFill>
              </a:rPr>
              <a:t>&lt;</a:t>
            </a:r>
            <a:r>
              <a:rPr lang="es-MX" sz="3200" b="1" u="none" strike="noStrike" baseline="0" dirty="0" err="1">
                <a:solidFill>
                  <a:srgbClr val="000000"/>
                </a:solidFill>
              </a:rPr>
              <a:t>button</a:t>
            </a:r>
            <a:r>
              <a:rPr lang="es-MX" sz="3200" b="1" u="none" strike="noStrike" baseline="0" dirty="0">
                <a:solidFill>
                  <a:srgbClr val="000000"/>
                </a:solidFill>
              </a:rPr>
              <a:t>&gt;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 son más fáciles de personalizar con estilos CSS y pueden contener texto o imágenes.</a:t>
            </a:r>
          </a:p>
          <a:p>
            <a:pPr marL="0" indent="0" algn="just">
              <a:buNone/>
            </a:pPr>
            <a:r>
              <a:rPr lang="es-MX" sz="3200" b="1" u="none" strike="noStrike" baseline="0" dirty="0">
                <a:solidFill>
                  <a:srgbClr val="000000"/>
                </a:solidFill>
              </a:rPr>
              <a:t>JavaScript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: los </a:t>
            </a:r>
            <a:r>
              <a:rPr lang="es-MX" sz="3200" b="1" u="none" strike="noStrike" baseline="0" dirty="0">
                <a:solidFill>
                  <a:srgbClr val="000000"/>
                </a:solidFill>
              </a:rPr>
              <a:t>&lt;</a:t>
            </a:r>
            <a:r>
              <a:rPr lang="es-MX" sz="3200" b="1" u="none" strike="noStrike" baseline="0" dirty="0" err="1">
                <a:solidFill>
                  <a:srgbClr val="000000"/>
                </a:solidFill>
              </a:rPr>
              <a:t>button</a:t>
            </a:r>
            <a:r>
              <a:rPr lang="es-MX" sz="3200" b="1" u="none" strike="noStrike" baseline="0" dirty="0">
                <a:solidFill>
                  <a:srgbClr val="000000"/>
                </a:solidFill>
              </a:rPr>
              <a:t>&gt;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 se adaptan mejor a la interacciones JavaScript.</a:t>
            </a:r>
          </a:p>
          <a:p>
            <a:pPr marL="0" indent="0" algn="just">
              <a:buNone/>
            </a:pPr>
            <a:r>
              <a:rPr lang="es-MX" sz="3200" b="1" u="none" strike="noStrike" baseline="0" dirty="0">
                <a:solidFill>
                  <a:srgbClr val="000000"/>
                </a:solidFill>
              </a:rPr>
              <a:t>Envío de formularios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: Ambos pueden enviar formularios, pero </a:t>
            </a:r>
            <a:r>
              <a:rPr lang="es-MX" sz="3200" b="1" u="none" strike="noStrike" baseline="0" dirty="0">
                <a:solidFill>
                  <a:srgbClr val="000000"/>
                </a:solidFill>
              </a:rPr>
              <a:t>&lt;</a:t>
            </a:r>
            <a:r>
              <a:rPr lang="es-MX" sz="3200" b="1" u="none" strike="noStrike" baseline="0" dirty="0" err="1">
                <a:solidFill>
                  <a:srgbClr val="000000"/>
                </a:solidFill>
              </a:rPr>
              <a:t>button</a:t>
            </a:r>
            <a:r>
              <a:rPr lang="es-MX" sz="3200" b="1" u="none" strike="noStrike" baseline="0" dirty="0">
                <a:solidFill>
                  <a:srgbClr val="000000"/>
                </a:solidFill>
              </a:rPr>
              <a:t>&gt;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 requiere JS para ello si no está dentro de un </a:t>
            </a:r>
            <a:r>
              <a:rPr lang="es-MX" sz="3200" b="1" u="none" strike="noStrike" baseline="0" dirty="0">
                <a:solidFill>
                  <a:srgbClr val="000000"/>
                </a:solidFill>
              </a:rPr>
              <a:t>&lt;</a:t>
            </a:r>
            <a:r>
              <a:rPr lang="es-MX" sz="3200" b="1" u="none" strike="noStrike" baseline="0" dirty="0" err="1">
                <a:solidFill>
                  <a:srgbClr val="000000"/>
                </a:solidFill>
              </a:rPr>
              <a:t>form</a:t>
            </a:r>
            <a:r>
              <a:rPr lang="es-MX" sz="3200" b="1" u="none" strike="noStrike" baseline="0" dirty="0">
                <a:solidFill>
                  <a:srgbClr val="000000"/>
                </a:solidFill>
              </a:rPr>
              <a:t>&gt;</a:t>
            </a:r>
            <a:r>
              <a:rPr lang="es-MX" sz="3200" u="none" strike="noStrike" baseline="0" dirty="0">
                <a:solidFill>
                  <a:srgbClr val="000000"/>
                </a:solidFill>
              </a:rPr>
              <a:t>. </a:t>
            </a:r>
          </a:p>
        </p:txBody>
      </p:sp>
      <p:pic>
        <p:nvPicPr>
          <p:cNvPr id="11" name="Imagen 10" descr="Icono&#10;&#10;Descripción generada automáticamente">
            <a:hlinkClick r:id="rId3"/>
            <a:extLst>
              <a:ext uri="{FF2B5EF4-FFF2-40B4-BE49-F238E27FC236}">
                <a16:creationId xmlns:a16="http://schemas.microsoft.com/office/drawing/2014/main" id="{A74C0CE7-8A14-7797-9C94-BED610FA65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077" y="5458266"/>
            <a:ext cx="720000" cy="128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55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494240" y="2271387"/>
            <a:ext cx="3333749" cy="2315222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8D7E64C-AA78-7BF2-1231-7D62BDAA551E}"/>
              </a:ext>
            </a:extLst>
          </p:cNvPr>
          <p:cNvSpPr/>
          <p:nvPr/>
        </p:nvSpPr>
        <p:spPr>
          <a:xfrm>
            <a:off x="36013" y="2669458"/>
            <a:ext cx="2117252" cy="203317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HTML5 – </a:t>
            </a:r>
            <a:r>
              <a:rPr lang="en-US" sz="3200" b="1" kern="1200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Ejercicio</a:t>
            </a:r>
            <a:r>
              <a:rPr lang="en-US" sz="3200" b="1" kern="1200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  <a:ea typeface="+mj-ea"/>
                <a:cs typeface="+mj-cs"/>
              </a:rPr>
              <a:t>Formularios</a:t>
            </a:r>
            <a:endParaRPr lang="en-US" sz="3200" b="1" kern="1200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3" name="Marcador de contenido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2239454-E5EB-F745-2919-B23EE65BF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619" y="258093"/>
            <a:ext cx="9760368" cy="6341806"/>
          </a:xfrm>
          <a:prstGeom prst="rect">
            <a:avLst/>
          </a:prstGeom>
        </p:spPr>
      </p:pic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BF7FF665-DF9C-9CF0-E826-915F960CF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39" y="1762123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29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541CDB6EC544B901621DD096179E2" ma:contentTypeVersion="13" ma:contentTypeDescription="Create a new document." ma:contentTypeScope="" ma:versionID="139a042f0fbe093629c7596a2ccd9816">
  <xsd:schema xmlns:xsd="http://www.w3.org/2001/XMLSchema" xmlns:xs="http://www.w3.org/2001/XMLSchema" xmlns:p="http://schemas.microsoft.com/office/2006/metadata/properties" xmlns:ns3="11e58a82-3257-4d17-aa04-aa695e39addf" xmlns:ns4="70f8e600-44a1-4a39-a7ca-6ac0ea449fc7" targetNamespace="http://schemas.microsoft.com/office/2006/metadata/properties" ma:root="true" ma:fieldsID="7154c6f3bb9d8a44070c0b8c474be1c4" ns3:_="" ns4:_="">
    <xsd:import namespace="11e58a82-3257-4d17-aa04-aa695e39addf"/>
    <xsd:import namespace="70f8e600-44a1-4a39-a7ca-6ac0ea449f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e58a82-3257-4d17-aa04-aa695e39a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f8e600-44a1-4a39-a7ca-6ac0ea449f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e58a82-3257-4d17-aa04-aa695e39addf" xsi:nil="true"/>
  </documentManagement>
</p:properties>
</file>

<file path=customXml/itemProps1.xml><?xml version="1.0" encoding="utf-8"?>
<ds:datastoreItem xmlns:ds="http://schemas.openxmlformats.org/officeDocument/2006/customXml" ds:itemID="{8A077E41-75C0-44B8-AE0A-1D55C12591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EE0BF9-A2BD-46FC-B75B-EB9D471449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e58a82-3257-4d17-aa04-aa695e39addf"/>
    <ds:schemaRef ds:uri="70f8e600-44a1-4a39-a7ca-6ac0ea449f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E26501-C543-414D-9E15-B14224DE7A64}">
  <ds:schemaRefs>
    <ds:schemaRef ds:uri="http://schemas.microsoft.com/office/2006/documentManagement/types"/>
    <ds:schemaRef ds:uri="http://www.w3.org/XML/1998/namespace"/>
    <ds:schemaRef ds:uri="http://purl.org/dc/elements/1.1/"/>
    <ds:schemaRef ds:uri="11e58a82-3257-4d17-aa04-aa695e39addf"/>
    <ds:schemaRef ds:uri="http://schemas.microsoft.com/office/infopath/2007/PartnerControls"/>
    <ds:schemaRef ds:uri="70f8e600-44a1-4a39-a7ca-6ac0ea449fc7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6547</TotalTime>
  <Words>1871</Words>
  <Application>Microsoft Office PowerPoint</Application>
  <PresentationFormat>Panorámica</PresentationFormat>
  <Paragraphs>192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Funciones en JavaScript - Declaración</dc:title>
  <dc:creator>Jorge Eduardo Perez Garcia</dc:creator>
  <cp:lastModifiedBy>Cesde</cp:lastModifiedBy>
  <cp:revision>242</cp:revision>
  <dcterms:created xsi:type="dcterms:W3CDTF">2024-08-02T00:27:09Z</dcterms:created>
  <dcterms:modified xsi:type="dcterms:W3CDTF">2026-02-12T17:58:09Z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0x01010012C541CDB6EC544B901621DD096179E2</vt:lpwstr>
  </property>
</Properties>
</file>